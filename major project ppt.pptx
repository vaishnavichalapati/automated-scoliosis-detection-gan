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256" r:id="rId2"/>
    <p:sldId id="283" r:id="rId3"/>
    <p:sldId id="284" r:id="rId4"/>
    <p:sldId id="285" r:id="rId5"/>
    <p:sldId id="288" r:id="rId6"/>
    <p:sldId id="302" r:id="rId7"/>
    <p:sldId id="292" r:id="rId8"/>
    <p:sldId id="293" r:id="rId9"/>
    <p:sldId id="300" r:id="rId10"/>
    <p:sldId id="294" r:id="rId11"/>
    <p:sldId id="295" r:id="rId12"/>
    <p:sldId id="296" r:id="rId13"/>
    <p:sldId id="297" r:id="rId14"/>
    <p:sldId id="308" r:id="rId15"/>
    <p:sldId id="309" r:id="rId16"/>
    <p:sldId id="289" r:id="rId17"/>
    <p:sldId id="291" r:id="rId18"/>
    <p:sldId id="303" r:id="rId19"/>
    <p:sldId id="304" r:id="rId20"/>
    <p:sldId id="306" r:id="rId21"/>
    <p:sldId id="307" r:id="rId22"/>
    <p:sldId id="298" r:id="rId23"/>
    <p:sldId id="287" r:id="rId24"/>
    <p:sldId id="29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howGuides="1">
      <p:cViewPr>
        <p:scale>
          <a:sx n="50" d="100"/>
          <a:sy n="50" d="100"/>
        </p:scale>
        <p:origin x="1284" y="232"/>
      </p:cViewPr>
      <p:guideLst>
        <p:guide orient="horz" pos="2160"/>
        <p:guide pos="3840"/>
      </p:guideLst>
    </p:cSldViewPr>
  </p:slideViewPr>
  <p:notesTextViewPr>
    <p:cViewPr>
      <p:scale>
        <a:sx n="1" d="1"/>
        <a:sy n="1" d="1"/>
      </p:scale>
      <p:origin x="0" y="0"/>
    </p:cViewPr>
  </p:notesTextViewPr>
  <p:notesViewPr>
    <p:cSldViewPr snapToGrid="0">
      <p:cViewPr varScale="1">
        <p:scale>
          <a:sx n="61" d="100"/>
          <a:sy n="61" d="100"/>
        </p:scale>
        <p:origin x="2484"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629347-2FD3-469E-BE57-2239DE7637D4}"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0146B5-1F40-4F57-AAD9-DB7CC17AAC9A}" type="datetimeFigureOut">
              <a:rPr lang="en-US" smtClean="0"/>
              <a:t>3/5/2026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371D2C-624B-43F4-8168-55C8046224E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371D2C-624B-43F4-8168-55C8046224EA}" type="slidenum">
              <a:rPr lang="en-US" smtClean="0"/>
              <a:t>5</a:t>
            </a:fld>
            <a:endParaRPr lang="en-US"/>
          </a:p>
        </p:txBody>
      </p:sp>
    </p:spTree>
    <p:extLst>
      <p:ext uri="{BB962C8B-B14F-4D97-AF65-F5344CB8AC3E}">
        <p14:creationId xmlns:p14="http://schemas.microsoft.com/office/powerpoint/2010/main" val="4083292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371D2C-624B-43F4-8168-55C8046224EA}" type="slidenum">
              <a:rPr lang="en-US" smtClean="0"/>
              <a:t>9</a:t>
            </a:fld>
            <a:endParaRPr lang="en-US"/>
          </a:p>
        </p:txBody>
      </p:sp>
    </p:spTree>
    <p:extLst>
      <p:ext uri="{BB962C8B-B14F-4D97-AF65-F5344CB8AC3E}">
        <p14:creationId xmlns:p14="http://schemas.microsoft.com/office/powerpoint/2010/main" val="3966067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89BFB84-62EB-4FD3-8C70-4538503F42DF}"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9BFB84-62EB-4FD3-8C70-4538503F42DF}"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9BFB84-62EB-4FD3-8C70-4538503F42DF}"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89BFB84-62EB-4FD3-8C70-4538503F42DF}"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89BFB84-62EB-4FD3-8C70-4538503F42DF}"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89BFB84-62EB-4FD3-8C70-4538503F42DF}" type="datetimeFigureOut">
              <a:rPr lang="en-IN" smtClean="0"/>
              <a:t>05-03-2026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9BFB84-62EB-4FD3-8C70-4538503F42DF}" type="datetimeFigureOut">
              <a:rPr lang="en-IN" smtClean="0"/>
              <a:t>05-03-2026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BFB84-62EB-4FD3-8C70-4538503F42DF}"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BFB84-62EB-4FD3-8C70-4538503F42DF}"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9BFB84-62EB-4FD3-8C70-4538503F42DF}"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9BFB84-62EB-4FD3-8C70-4538503F42DF}"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16EFFB-0555-4B22-A4B7-114D1D11C7A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9BFB84-62EB-4FD3-8C70-4538503F42DF}" type="datetimeFigureOut">
              <a:rPr lang="en-IN" smtClean="0"/>
              <a:t>05-03-2026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16EFFB-0555-4B22-A4B7-114D1D11C7A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89529" y="2765416"/>
            <a:ext cx="9863737" cy="1141274"/>
          </a:xfrm>
          <a:prstGeom prst="rect">
            <a:avLst/>
          </a:prstGeom>
          <a:noFill/>
        </p:spPr>
        <p:txBody>
          <a:bodyPr wrap="square">
            <a:spAutoFit/>
          </a:bodyPr>
          <a:lstStyle/>
          <a:p>
            <a:pPr algn="ctr">
              <a:lnSpc>
                <a:spcPct val="150000"/>
              </a:lnSpc>
            </a:pPr>
            <a:r>
              <a:rPr lang="en-US" sz="2400" b="1" dirty="0">
                <a:solidFill>
                  <a:srgbClr val="C00000"/>
                </a:solidFill>
                <a:latin typeface="Times New Roman" panose="02020603050405020304" pitchFamily="18" charset="0"/>
                <a:cs typeface="Times New Roman" panose="02020603050405020304" pitchFamily="18" charset="0"/>
              </a:rPr>
              <a:t>Automated</a:t>
            </a:r>
            <a:r>
              <a:rPr lang="en-US" sz="2400" b="1" dirty="0">
                <a:solidFill>
                  <a:srgbClr val="C00000"/>
                </a:solidFill>
              </a:rPr>
              <a:t> Scoliosis Assessment from Spine X-rays Using Generative Adversarial Networks (GANs)</a:t>
            </a:r>
            <a:endParaRPr lang="en-US" sz="2400" b="1" dirty="0">
              <a:solidFill>
                <a:srgbClr val="C00000"/>
              </a:solidFill>
              <a:latin typeface="Bookman Old Style" panose="02050604050505020204" pitchFamily="18" charset="0"/>
              <a:cs typeface="Times New Roman" panose="02020603050405020304" pitchFamily="18" charset="0"/>
            </a:endParaRPr>
          </a:p>
        </p:txBody>
      </p:sp>
      <p:sp>
        <p:nvSpPr>
          <p:cNvPr id="8" name="TextBox 7"/>
          <p:cNvSpPr txBox="1"/>
          <p:nvPr/>
        </p:nvSpPr>
        <p:spPr>
          <a:xfrm>
            <a:off x="6860720" y="4575397"/>
            <a:ext cx="6094638"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Under the Guidance of:</a:t>
            </a:r>
          </a:p>
        </p:txBody>
      </p:sp>
      <p:sp>
        <p:nvSpPr>
          <p:cNvPr id="9" name="TextBox 8"/>
          <p:cNvSpPr txBox="1"/>
          <p:nvPr/>
        </p:nvSpPr>
        <p:spPr>
          <a:xfrm>
            <a:off x="8798870" y="4944729"/>
            <a:ext cx="2246897" cy="615553"/>
          </a:xfrm>
          <a:prstGeom prst="rect">
            <a:avLst/>
          </a:prstGeom>
          <a:noFill/>
        </p:spPr>
        <p:txBody>
          <a:bodyPr wrap="none" rtlCol="0">
            <a:spAutoFit/>
          </a:bodyPr>
          <a:lstStyle/>
          <a:p>
            <a:r>
              <a:rPr lang="en-US" sz="1700" dirty="0">
                <a:latin typeface="Times New Roman" panose="02020603050405020304" pitchFamily="18" charset="0"/>
                <a:cs typeface="Times New Roman" panose="02020603050405020304" pitchFamily="18" charset="0"/>
              </a:rPr>
              <a:t>Mr. S. Chandra </a:t>
            </a:r>
            <a:r>
              <a:rPr lang="en-US" sz="1700" dirty="0" err="1">
                <a:latin typeface="Times New Roman" panose="02020603050405020304" pitchFamily="18" charset="0"/>
                <a:cs typeface="Times New Roman" panose="02020603050405020304" pitchFamily="18" charset="0"/>
              </a:rPr>
              <a:t>shekher</a:t>
            </a:r>
            <a:endParaRPr lang="en-US" sz="1700" dirty="0">
              <a:latin typeface="Times New Roman" panose="02020603050405020304" pitchFamily="18" charset="0"/>
              <a:cs typeface="Times New Roman" panose="02020603050405020304" pitchFamily="18" charset="0"/>
            </a:endParaRPr>
          </a:p>
          <a:p>
            <a:r>
              <a:rPr lang="en-IN" sz="1700" dirty="0">
                <a:latin typeface="Times New Roman" panose="02020603050405020304" pitchFamily="18" charset="0"/>
                <a:cs typeface="Times New Roman" panose="02020603050405020304" pitchFamily="18" charset="0"/>
              </a:rPr>
              <a:t>  Assistant Professor </a:t>
            </a:r>
          </a:p>
        </p:txBody>
      </p:sp>
      <p:sp>
        <p:nvSpPr>
          <p:cNvPr id="11" name="TextBox 10"/>
          <p:cNvSpPr txBox="1"/>
          <p:nvPr/>
        </p:nvSpPr>
        <p:spPr>
          <a:xfrm>
            <a:off x="-1041034" y="4575397"/>
            <a:ext cx="6094638"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Presented By: </a:t>
            </a:r>
          </a:p>
        </p:txBody>
      </p:sp>
      <p:sp>
        <p:nvSpPr>
          <p:cNvPr id="12" name="TextBox 11"/>
          <p:cNvSpPr txBox="1"/>
          <p:nvPr/>
        </p:nvSpPr>
        <p:spPr>
          <a:xfrm>
            <a:off x="640655" y="4944729"/>
            <a:ext cx="3362524" cy="1415772"/>
          </a:xfrm>
          <a:prstGeom prst="rect">
            <a:avLst/>
          </a:prstGeom>
          <a:noFill/>
        </p:spPr>
        <p:txBody>
          <a:bodyPr wrap="none" rtlCol="0">
            <a:spAutoFit/>
          </a:bodyPr>
          <a:lstStyle/>
          <a:p>
            <a:r>
              <a:rPr lang="en-US" sz="1700" dirty="0">
                <a:latin typeface="Times New Roman" panose="02020603050405020304" pitchFamily="18" charset="0"/>
                <a:cs typeface="Times New Roman" panose="02020603050405020304" pitchFamily="18" charset="0"/>
              </a:rPr>
              <a:t>K. Reetwika(22UP1A1231)</a:t>
            </a:r>
          </a:p>
          <a:p>
            <a:r>
              <a:rPr lang="en-US" sz="1700" dirty="0">
                <a:latin typeface="Times New Roman" panose="02020603050405020304" pitchFamily="18" charset="0"/>
                <a:cs typeface="Times New Roman" panose="02020603050405020304" pitchFamily="18" charset="0"/>
              </a:rPr>
              <a:t>K. Sneha Latha(22UP1A1232)</a:t>
            </a:r>
          </a:p>
          <a:p>
            <a:r>
              <a:rPr lang="en-US" sz="1700" dirty="0">
                <a:latin typeface="Times New Roman" panose="02020603050405020304" pitchFamily="18" charset="0"/>
                <a:cs typeface="Times New Roman" panose="02020603050405020304" pitchFamily="18" charset="0"/>
              </a:rPr>
              <a:t>D. Krishna Sri(22UP1A1220)</a:t>
            </a:r>
          </a:p>
          <a:p>
            <a:r>
              <a:rPr lang="en-US" sz="1700" dirty="0">
                <a:latin typeface="Times New Roman" panose="02020603050405020304" pitchFamily="18" charset="0"/>
                <a:cs typeface="Times New Roman" panose="02020603050405020304" pitchFamily="18" charset="0"/>
              </a:rPr>
              <a:t>Ch. Laxmi Vaishnavi(22UP1A1211)</a:t>
            </a:r>
          </a:p>
          <a:p>
            <a:endParaRPr lang="en-IN" dirty="0"/>
          </a:p>
        </p:txBody>
      </p:sp>
      <p:sp>
        <p:nvSpPr>
          <p:cNvPr id="13" name="TextBox 12"/>
          <p:cNvSpPr txBox="1"/>
          <p:nvPr/>
        </p:nvSpPr>
        <p:spPr>
          <a:xfrm>
            <a:off x="3104635" y="1727377"/>
            <a:ext cx="5982728" cy="369332"/>
          </a:xfrm>
          <a:prstGeom prst="rect">
            <a:avLst/>
          </a:prstGeom>
          <a:noFill/>
        </p:spPr>
        <p:txBody>
          <a:bodyPr wrap="none" rtlCol="0">
            <a:spAutoFit/>
          </a:bodyPr>
          <a:lstStyle/>
          <a:p>
            <a:pPr algn="ctr"/>
            <a:r>
              <a:rPr lang="en-GB" b="1" dirty="0">
                <a:solidFill>
                  <a:srgbClr val="000000"/>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DEPARTMENT</a:t>
            </a:r>
            <a:r>
              <a:rPr lang="en-GB" b="1" dirty="0">
                <a:solidFill>
                  <a:srgbClr val="000000"/>
                </a:solidFill>
                <a:latin typeface="Bookman Old Style" panose="02050604050505020204"/>
                <a:ea typeface="Bookman Old Style" panose="02050604050505020204"/>
                <a:cs typeface="Bookman Old Style" panose="02050604050505020204"/>
                <a:sym typeface="Bookman Old Style" panose="02050604050505020204"/>
              </a:rPr>
              <a:t> OF INFORMATION TECHNOLOGY</a:t>
            </a:r>
            <a:endParaRPr lang="en-US" dirty="0"/>
          </a:p>
        </p:txBody>
      </p:sp>
      <p:sp>
        <p:nvSpPr>
          <p:cNvPr id="14" name="TextBox 13"/>
          <p:cNvSpPr txBox="1"/>
          <p:nvPr/>
        </p:nvSpPr>
        <p:spPr>
          <a:xfrm>
            <a:off x="4426864" y="2221892"/>
            <a:ext cx="3389069" cy="646331"/>
          </a:xfrm>
          <a:prstGeom prst="rect">
            <a:avLst/>
          </a:prstGeom>
          <a:noFill/>
        </p:spPr>
        <p:txBody>
          <a:bodyPr wrap="none" rtlCol="0">
            <a:spAutoFit/>
          </a:bodyPr>
          <a:lstStyle/>
          <a:p>
            <a:pPr algn="ctr"/>
            <a:r>
              <a:rPr lang="en-US" b="1" dirty="0">
                <a:latin typeface="Times New Roman" panose="02020603050405020304" pitchFamily="18" charset="0"/>
                <a:cs typeface="Times New Roman" panose="02020603050405020304" pitchFamily="18" charset="0"/>
              </a:rPr>
              <a:t>MAJOR</a:t>
            </a:r>
            <a:r>
              <a:rPr lang="en-US" b="1" dirty="0">
                <a:latin typeface="Bookman Old Style" panose="02050604050505020204" pitchFamily="18" charset="0"/>
              </a:rPr>
              <a:t> PROJECT REVIEW</a:t>
            </a:r>
            <a:br>
              <a:rPr lang="en-US" b="1" dirty="0">
                <a:latin typeface="Bookman Old Style" panose="02050604050505020204" pitchFamily="18" charset="0"/>
              </a:rPr>
            </a:br>
            <a:r>
              <a:rPr lang="en-US" b="1" dirty="0">
                <a:latin typeface="Bookman Old Style" panose="02050604050505020204" pitchFamily="18" charset="0"/>
              </a:rPr>
              <a:t>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702"/>
            <a:ext cx="12192000" cy="13627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7419" y="1873045"/>
            <a:ext cx="10899059" cy="317009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Scoliosis, lateral curvature of the spine, requires precise and prompt diagnosis to ensure effective treatment. Traditional evaluation depends on manual measurement of the Cobb angle, a time-consuming process with the possibility of human error. This work suggests a new two-stage approach based on Generative Adversarial Networks (GANs) to automate scoliosis evaluation. The initial stage involves a GAN-based model for precise spine segmentation followed by the second stage, wherein the main clinical features, including Cobb angles, are extracted to assess curvature severity. The model, trained from labeled spine X-ray datasets, demonstrates high accuracy in segmentation and scoliosis classification, decreasing the need for manual analysis. Experimental results affirm the robustness of this framework, suggesting potential integration into clinical practice to increase diagnostic accuracy and reduce radiation exposure through enhanced low-dose X-ray imaging.</a:t>
            </a:r>
          </a:p>
        </p:txBody>
      </p:sp>
      <p:sp>
        <p:nvSpPr>
          <p:cNvPr id="5" name="TextBox 4"/>
          <p:cNvSpPr txBox="1"/>
          <p:nvPr/>
        </p:nvSpPr>
        <p:spPr>
          <a:xfrm>
            <a:off x="5029200" y="1032387"/>
            <a:ext cx="186301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2988" y="1843085"/>
            <a:ext cx="10115550" cy="3477875"/>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Scoliosis</a:t>
            </a:r>
            <a:r>
              <a:rPr lang="en-US" sz="2000" dirty="0">
                <a:latin typeface="Times New Roman" panose="02020603050405020304" pitchFamily="18" charset="0"/>
                <a:cs typeface="Times New Roman" panose="02020603050405020304" pitchFamily="18" charset="0"/>
              </a:rPr>
              <a:t>: abnormal lateral curvature of the spine, usually in adolescents.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Diagnosis traditionally done by </a:t>
            </a:r>
            <a:r>
              <a:rPr lang="en-US" sz="2000" b="1" dirty="0">
                <a:latin typeface="Times New Roman" panose="02020603050405020304" pitchFamily="18" charset="0"/>
                <a:cs typeface="Times New Roman" panose="02020603050405020304" pitchFamily="18" charset="0"/>
              </a:rPr>
              <a:t>manual Cobb angle measurement</a:t>
            </a:r>
            <a:r>
              <a:rPr lang="en-US" sz="2000" dirty="0">
                <a:latin typeface="Times New Roman" panose="02020603050405020304" pitchFamily="18" charset="0"/>
                <a:cs typeface="Times New Roman" panose="02020603050405020304" pitchFamily="18" charset="0"/>
              </a:rPr>
              <a:t> → time-consuming &amp; error-prone.</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AI in medical imaging</a:t>
            </a:r>
            <a:r>
              <a:rPr lang="en-US" sz="2000" dirty="0">
                <a:latin typeface="Times New Roman" panose="02020603050405020304" pitchFamily="18" charset="0"/>
                <a:cs typeface="Times New Roman" panose="02020603050405020304" pitchFamily="18" charset="0"/>
              </a:rPr>
              <a:t> offers faster, consistent, and reliable solutions.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CNNs</a:t>
            </a:r>
            <a:r>
              <a:rPr lang="en-US" sz="2000" dirty="0">
                <a:latin typeface="Times New Roman" panose="02020603050405020304" pitchFamily="18" charset="0"/>
                <a:cs typeface="Times New Roman" panose="02020603050405020304" pitchFamily="18" charset="0"/>
              </a:rPr>
              <a:t> help in image analysis but struggle with noise &amp; anatomical variations.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GANs</a:t>
            </a:r>
            <a:r>
              <a:rPr lang="en-US" sz="2000" dirty="0">
                <a:latin typeface="Times New Roman" panose="02020603050405020304" pitchFamily="18" charset="0"/>
                <a:cs typeface="Times New Roman" panose="02020603050405020304" pitchFamily="18" charset="0"/>
              </a:rPr>
              <a:t> are powerful for fine structural detail → effective for spine segmentation.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Project proposes a </a:t>
            </a:r>
            <a:r>
              <a:rPr lang="en-US" sz="2000" b="1" dirty="0">
                <a:latin typeface="Times New Roman" panose="02020603050405020304" pitchFamily="18" charset="0"/>
                <a:cs typeface="Times New Roman" panose="02020603050405020304" pitchFamily="18" charset="0"/>
              </a:rPr>
              <a:t>two-stage GAN-based system</a:t>
            </a:r>
            <a:r>
              <a:rPr lang="en-US" sz="2000"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Spine Segmentation</a:t>
            </a:r>
            <a:r>
              <a:rPr lang="en-US" sz="2000" dirty="0">
                <a:latin typeface="Times New Roman" panose="02020603050405020304" pitchFamily="18" charset="0"/>
                <a:cs typeface="Times New Roman" panose="02020603050405020304" pitchFamily="18" charset="0"/>
              </a:rPr>
              <a:t> from X-rays.</a:t>
            </a:r>
          </a:p>
          <a:p>
            <a:pPr marL="742950" lvl="1"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Automatic Cobb Angle Calculation</a:t>
            </a:r>
            <a:r>
              <a:rPr lang="en-US" sz="2000" dirty="0">
                <a:latin typeface="Times New Roman" panose="02020603050405020304" pitchFamily="18" charset="0"/>
                <a:cs typeface="Times New Roman" panose="02020603050405020304" pitchFamily="18" charset="0"/>
              </a:rPr>
              <a:t> to assess severity.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Benefits: </a:t>
            </a:r>
            <a:r>
              <a:rPr lang="en-US" sz="2000" b="1" dirty="0">
                <a:latin typeface="Times New Roman" panose="02020603050405020304" pitchFamily="18" charset="0"/>
                <a:cs typeface="Times New Roman" panose="02020603050405020304" pitchFamily="18" charset="0"/>
              </a:rPr>
              <a:t>reduces human error, saves time, ensures consistency, and supports clinical decision-making</a:t>
            </a:r>
            <a:r>
              <a:rPr lang="en-US" sz="2000" dirty="0">
                <a:latin typeface="Times New Roman" panose="02020603050405020304" pitchFamily="18" charset="0"/>
                <a:cs typeface="Times New Roman" panose="02020603050405020304" pitchFamily="18" charset="0"/>
              </a:rPr>
              <a:t>.</a:t>
            </a:r>
          </a:p>
        </p:txBody>
      </p:sp>
      <p:sp>
        <p:nvSpPr>
          <p:cNvPr id="4" name="TextBox 3"/>
          <p:cNvSpPr txBox="1"/>
          <p:nvPr/>
        </p:nvSpPr>
        <p:spPr>
          <a:xfrm>
            <a:off x="4400550" y="828675"/>
            <a:ext cx="2746265"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6063" y="1882878"/>
            <a:ext cx="10258425" cy="1015663"/>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Manual scoliosis diagnosis from X-rays using Cobb angle measurement is slow, subjective, and error-prone. An automated system is needed to provide fast, accurate, and consistent scoliosis assessment.</a:t>
            </a:r>
          </a:p>
        </p:txBody>
      </p:sp>
      <p:sp>
        <p:nvSpPr>
          <p:cNvPr id="3" name="TextBox 2"/>
          <p:cNvSpPr txBox="1"/>
          <p:nvPr/>
        </p:nvSpPr>
        <p:spPr>
          <a:xfrm>
            <a:off x="4329113" y="442913"/>
            <a:ext cx="3731342" cy="830997"/>
          </a:xfrm>
          <a:prstGeom prst="rect">
            <a:avLst/>
          </a:prstGeom>
          <a:noFill/>
        </p:spPr>
        <p:txBody>
          <a:bodyPr wrap="none" rtlCol="0">
            <a:spAutoFit/>
          </a:bodyPr>
          <a:lstStyle/>
          <a:p>
            <a:endParaRPr lang="en-US" sz="2400" b="1" dirty="0">
              <a:latin typeface="Bookman Old Style" panose="02050604050505020204" pitchFamily="18" charset="0"/>
            </a:endParaRPr>
          </a:p>
          <a:p>
            <a:r>
              <a:rPr lang="en-US" sz="2400" b="1" dirty="0">
                <a:latin typeface="Times New Roman" panose="02020603050405020304" pitchFamily="18" charset="0"/>
                <a:cs typeface="Times New Roman" panose="02020603050405020304" pitchFamily="18" charset="0"/>
              </a:rPr>
              <a:t>PROBLEM</a:t>
            </a:r>
            <a:r>
              <a:rPr lang="en-US" sz="2400" b="1" dirty="0">
                <a:latin typeface="Bookman Old Style" panose="02050604050505020204" pitchFamily="18" charset="0"/>
              </a:rPr>
              <a:t> </a:t>
            </a:r>
            <a:r>
              <a:rPr lang="en-US" sz="2400" b="1" dirty="0">
                <a:latin typeface="Times New Roman" panose="02020603050405020304" pitchFamily="18" charset="0"/>
                <a:cs typeface="Times New Roman" panose="02020603050405020304" pitchFamily="18" charset="0"/>
              </a:rPr>
              <a:t>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extLst>
              <p:ext uri="{D42A27DB-BD31-4B8C-83A1-F6EECF244321}">
                <p14:modId xmlns:p14="http://schemas.microsoft.com/office/powerpoint/2010/main" val="3379399625"/>
              </p:ext>
            </p:extLst>
          </p:nvPr>
        </p:nvGraphicFramePr>
        <p:xfrm>
          <a:off x="476885" y="889635"/>
          <a:ext cx="10942955" cy="5875655"/>
        </p:xfrm>
        <a:graphic>
          <a:graphicData uri="http://schemas.openxmlformats.org/drawingml/2006/table">
            <a:tbl>
              <a:tblPr firstRow="1" bandRow="1">
                <a:tableStyleId>{5C22544A-7EE6-4342-B048-85BDC9FD1C3A}</a:tableStyleId>
              </a:tblPr>
              <a:tblGrid>
                <a:gridCol w="1382395">
                  <a:extLst>
                    <a:ext uri="{9D8B030D-6E8A-4147-A177-3AD203B41FA5}">
                      <a16:colId xmlns:a16="http://schemas.microsoft.com/office/drawing/2014/main" val="20000"/>
                    </a:ext>
                  </a:extLst>
                </a:gridCol>
                <a:gridCol w="1106170">
                  <a:extLst>
                    <a:ext uri="{9D8B030D-6E8A-4147-A177-3AD203B41FA5}">
                      <a16:colId xmlns:a16="http://schemas.microsoft.com/office/drawing/2014/main" val="20001"/>
                    </a:ext>
                  </a:extLst>
                </a:gridCol>
                <a:gridCol w="2106295">
                  <a:extLst>
                    <a:ext uri="{9D8B030D-6E8A-4147-A177-3AD203B41FA5}">
                      <a16:colId xmlns:a16="http://schemas.microsoft.com/office/drawing/2014/main" val="20002"/>
                    </a:ext>
                  </a:extLst>
                </a:gridCol>
                <a:gridCol w="2106295">
                  <a:extLst>
                    <a:ext uri="{9D8B030D-6E8A-4147-A177-3AD203B41FA5}">
                      <a16:colId xmlns:a16="http://schemas.microsoft.com/office/drawing/2014/main" val="20003"/>
                    </a:ext>
                  </a:extLst>
                </a:gridCol>
                <a:gridCol w="2107565">
                  <a:extLst>
                    <a:ext uri="{9D8B030D-6E8A-4147-A177-3AD203B41FA5}">
                      <a16:colId xmlns:a16="http://schemas.microsoft.com/office/drawing/2014/main" val="20004"/>
                    </a:ext>
                  </a:extLst>
                </a:gridCol>
                <a:gridCol w="2134235">
                  <a:extLst>
                    <a:ext uri="{9D8B030D-6E8A-4147-A177-3AD203B41FA5}">
                      <a16:colId xmlns:a16="http://schemas.microsoft.com/office/drawing/2014/main" val="20005"/>
                    </a:ext>
                  </a:extLst>
                </a:gridCol>
              </a:tblGrid>
              <a:tr h="1294765">
                <a:tc>
                  <a:txBody>
                    <a:bodyPr/>
                    <a:lstStyle/>
                    <a:p>
                      <a:pPr>
                        <a:buNone/>
                      </a:pPr>
                      <a:r>
                        <a:rPr lang="en-IN" altLang="en-US" dirty="0"/>
                        <a:t>Year</a:t>
                      </a:r>
                    </a:p>
                  </a:txBody>
                  <a:tcPr>
                    <a:solidFill>
                      <a:schemeClr val="accent1"/>
                    </a:solidFill>
                  </a:tcPr>
                </a:tc>
                <a:tc>
                  <a:txBody>
                    <a:bodyPr/>
                    <a:lstStyle/>
                    <a:p>
                      <a:pPr>
                        <a:buNone/>
                      </a:pPr>
                      <a:r>
                        <a:rPr lang="en-IN" altLang="en-US" dirty="0"/>
                        <a:t>Author(s)</a:t>
                      </a:r>
                    </a:p>
                  </a:txBody>
                  <a:tcPr/>
                </a:tc>
                <a:tc>
                  <a:txBody>
                    <a:bodyPr/>
                    <a:lstStyle/>
                    <a:p>
                      <a:pPr>
                        <a:buNone/>
                      </a:pPr>
                      <a:r>
                        <a:rPr lang="en-IN" altLang="en-US" dirty="0"/>
                        <a:t>          Title</a:t>
                      </a:r>
                    </a:p>
                  </a:txBody>
                  <a:tcPr/>
                </a:tc>
                <a:tc>
                  <a:txBody>
                    <a:bodyPr/>
                    <a:lstStyle/>
                    <a:p>
                      <a:pPr>
                        <a:buNone/>
                      </a:pPr>
                      <a:r>
                        <a:rPr lang="en-IN" altLang="en-US" dirty="0"/>
                        <a:t>Methodology</a:t>
                      </a:r>
                    </a:p>
                  </a:txBody>
                  <a:tcPr/>
                </a:tc>
                <a:tc>
                  <a:txBody>
                    <a:bodyPr/>
                    <a:lstStyle/>
                    <a:p>
                      <a:pPr>
                        <a:buNone/>
                      </a:pPr>
                      <a:r>
                        <a:rPr lang="en-IN" altLang="en-US" dirty="0"/>
                        <a:t>Findings</a:t>
                      </a:r>
                    </a:p>
                  </a:txBody>
                  <a:tcPr/>
                </a:tc>
                <a:tc>
                  <a:txBody>
                    <a:bodyPr/>
                    <a:lstStyle/>
                    <a:p>
                      <a:pPr>
                        <a:buNone/>
                      </a:pPr>
                      <a:r>
                        <a:rPr lang="en-IN" altLang="en-US" dirty="0"/>
                        <a:t>Limitations</a:t>
                      </a:r>
                    </a:p>
                    <a:p>
                      <a:pPr>
                        <a:buNone/>
                      </a:pPr>
                      <a:endParaRPr lang="en-IN" altLang="en-US" dirty="0"/>
                    </a:p>
                    <a:p>
                      <a:pPr>
                        <a:buNone/>
                      </a:pPr>
                      <a:endParaRPr lang="en-IN" altLang="en-US" dirty="0"/>
                    </a:p>
                    <a:p>
                      <a:pPr>
                        <a:buNone/>
                      </a:pPr>
                      <a:endParaRPr lang="en-IN" altLang="en-US" dirty="0"/>
                    </a:p>
                  </a:txBody>
                  <a:tcPr/>
                </a:tc>
                <a:extLst>
                  <a:ext uri="{0D108BD9-81ED-4DB2-BD59-A6C34878D82A}">
                    <a16:rowId xmlns:a16="http://schemas.microsoft.com/office/drawing/2014/main" val="10000"/>
                  </a:ext>
                </a:extLst>
              </a:tr>
              <a:tr h="4580890">
                <a:tc>
                  <a:txBody>
                    <a:bodyPr/>
                    <a:lstStyle/>
                    <a:p>
                      <a:pPr>
                        <a:buNone/>
                      </a:pPr>
                      <a:r>
                        <a:rPr lang="en-IN" altLang="en-US" dirty="0">
                          <a:latin typeface="Times New Roman" panose="02020603050405020304" pitchFamily="18" charset="0"/>
                          <a:cs typeface="Times New Roman" panose="02020603050405020304" pitchFamily="18" charset="0"/>
                        </a:rPr>
                        <a:t>2024</a:t>
                      </a: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r>
                        <a:rPr lang="en-IN" altLang="en-US" dirty="0">
                          <a:latin typeface="Times New Roman" panose="02020603050405020304" pitchFamily="18" charset="0"/>
                          <a:cs typeface="Times New Roman" panose="02020603050405020304" pitchFamily="18" charset="0"/>
                        </a:rPr>
                        <a:t>2023</a:t>
                      </a: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r>
                        <a:rPr lang="en-IN" altLang="en-US" dirty="0">
                          <a:latin typeface="Times New Roman" panose="02020603050405020304" pitchFamily="18" charset="0"/>
                          <a:cs typeface="Times New Roman" panose="02020603050405020304" pitchFamily="18" charset="0"/>
                        </a:rPr>
                        <a:t>2022</a:t>
                      </a:r>
                    </a:p>
                  </a:txBody>
                  <a:tcPr/>
                </a:tc>
                <a:tc>
                  <a:txBody>
                    <a:bodyPr/>
                    <a:lstStyle/>
                    <a:p>
                      <a:pPr>
                        <a:buNone/>
                      </a:pPr>
                      <a:r>
                        <a:rPr lang="en-US" altLang="en-US" sz="1800" dirty="0">
                          <a:latin typeface="Times New Roman" panose="02020603050405020304" pitchFamily="18" charset="0"/>
                          <a:cs typeface="Times New Roman" panose="02020603050405020304" pitchFamily="18" charset="0"/>
                          <a:sym typeface="+mn-ea"/>
                        </a:rPr>
                        <a:t>He et al.</a:t>
                      </a: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Lee et al.	</a:t>
                      </a: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Yang et al.</a:t>
                      </a:r>
                    </a:p>
                  </a:txBody>
                  <a:tcPr/>
                </a:tc>
                <a:tc>
                  <a:txBody>
                    <a:bodyPr/>
                    <a:lstStyle/>
                    <a:p>
                      <a:pPr>
                        <a:buNone/>
                      </a:pPr>
                      <a:r>
                        <a:rPr lang="en-US" altLang="en-US" dirty="0">
                          <a:latin typeface="Times New Roman" panose="02020603050405020304" pitchFamily="18" charset="0"/>
                          <a:cs typeface="Times New Roman" panose="02020603050405020304" pitchFamily="18" charset="0"/>
                        </a:rPr>
                        <a:t>Radiation-free scoliosis detection using cGAN</a:t>
                      </a:r>
                      <a:r>
                        <a:rPr lang="en-IN" altLang="en-US" dirty="0">
                          <a:latin typeface="Times New Roman" panose="02020603050405020304" pitchFamily="18" charset="0"/>
                          <a:cs typeface="Times New Roman" panose="02020603050405020304" pitchFamily="18" charset="0"/>
                        </a:rPr>
                        <a:t>.</a:t>
                      </a:r>
                    </a:p>
                    <a:p>
                      <a:pPr>
                        <a:buNone/>
                      </a:pPr>
                      <a:endParaRPr lang="en-IN" altLang="en-US"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Screening of scoliosis using semi-supervised GANs</a:t>
                      </a: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2D-to-3D spine reconstruction using GAN</a:t>
                      </a:r>
                    </a:p>
                  </a:txBody>
                  <a:tcPr/>
                </a:tc>
                <a:tc>
                  <a:txBody>
                    <a:bodyPr/>
                    <a:lstStyle/>
                    <a:p>
                      <a:pPr>
                        <a:buNone/>
                      </a:pPr>
                      <a:r>
                        <a:rPr lang="en-US" altLang="en-US" dirty="0">
                          <a:latin typeface="Times New Roman" panose="02020603050405020304" pitchFamily="18" charset="0"/>
                          <a:cs typeface="Times New Roman" panose="02020603050405020304" pitchFamily="18" charset="0"/>
                        </a:rPr>
                        <a:t>cGAN converts smartphone photos to X-ray-like spine views</a:t>
                      </a:r>
                      <a:r>
                        <a:rPr lang="en-IN" altLang="en-US" dirty="0">
                          <a:latin typeface="Times New Roman" panose="02020603050405020304" pitchFamily="18" charset="0"/>
                          <a:cs typeface="Times New Roman" panose="02020603050405020304" pitchFamily="18" charset="0"/>
                        </a:rPr>
                        <a:t>.</a:t>
                      </a:r>
                    </a:p>
                    <a:p>
                      <a:pPr>
                        <a:buNone/>
                      </a:pPr>
                      <a:endParaRPr lang="en-IN" altLang="en-US" sz="1800" dirty="0">
                        <a:latin typeface="Times New Roman" panose="02020603050405020304" pitchFamily="18" charset="0"/>
                        <a:cs typeface="Times New Roman" panose="02020603050405020304" pitchFamily="18" charset="0"/>
                        <a:sym typeface="+mn-ea"/>
                      </a:endParaRPr>
                    </a:p>
                    <a:p>
                      <a:pPr>
                        <a:buNone/>
                      </a:pPr>
                      <a:r>
                        <a:rPr lang="en-IN" altLang="en-US" sz="1800" dirty="0">
                          <a:latin typeface="Times New Roman" panose="02020603050405020304" pitchFamily="18" charset="0"/>
                          <a:cs typeface="Times New Roman" panose="02020603050405020304" pitchFamily="18" charset="0"/>
                          <a:sym typeface="+mn-ea"/>
                        </a:rPr>
                        <a:t>Semi-supervised GAN trained on chest X-rays for feature learning.</a:t>
                      </a:r>
                    </a:p>
                    <a:p>
                      <a:pPr>
                        <a:buNone/>
                      </a:pPr>
                      <a:endParaRPr lang="en-IN" altLang="en-US" sz="1800" dirty="0">
                        <a:latin typeface="Times New Roman" panose="02020603050405020304" pitchFamily="18" charset="0"/>
                        <a:cs typeface="Times New Roman" panose="02020603050405020304" pitchFamily="18" charset="0"/>
                        <a:sym typeface="+mn-ea"/>
                      </a:endParaRPr>
                    </a:p>
                    <a:p>
                      <a:pPr>
                        <a:buNone/>
                      </a:pPr>
                      <a:r>
                        <a:rPr lang="en-US" altLang="en-US" sz="1800" dirty="0">
                          <a:latin typeface="Times New Roman" panose="02020603050405020304" pitchFamily="18" charset="0"/>
                          <a:cs typeface="Times New Roman" panose="02020603050405020304" pitchFamily="18" charset="0"/>
                        </a:rPr>
                        <a:t>X2CT-GAN generates 3D spine from 2D X-rays</a:t>
                      </a:r>
                    </a:p>
                    <a:p>
                      <a:pPr>
                        <a:buNone/>
                      </a:pPr>
                      <a:endParaRPr lang="en-IN" altLang="en-US" dirty="0">
                        <a:latin typeface="Times New Roman" panose="02020603050405020304" pitchFamily="18" charset="0"/>
                        <a:cs typeface="Times New Roman" panose="02020603050405020304" pitchFamily="18" charset="0"/>
                      </a:endParaRPr>
                    </a:p>
                  </a:txBody>
                  <a:tcPr/>
                </a:tc>
                <a:tc>
                  <a:txBody>
                    <a:bodyPr/>
                    <a:lstStyle/>
                    <a:p>
                      <a:pPr>
                        <a:buNone/>
                      </a:pPr>
                      <a:r>
                        <a:rPr lang="en-US" altLang="en-US" dirty="0">
                          <a:latin typeface="Times New Roman" panose="02020603050405020304" pitchFamily="18" charset="0"/>
                          <a:cs typeface="Times New Roman" panose="02020603050405020304" pitchFamily="18" charset="0"/>
                        </a:rPr>
                        <a:t>High correlation with true Cobb angles; low </a:t>
                      </a:r>
                      <a:r>
                        <a:rPr lang="en-IN" altLang="en-US" dirty="0">
                          <a:latin typeface="Times New Roman" panose="02020603050405020304" pitchFamily="18" charset="0"/>
                          <a:cs typeface="Times New Roman" panose="02020603050405020304" pitchFamily="18" charset="0"/>
                        </a:rPr>
                        <a:t>radiation.</a:t>
                      </a:r>
                    </a:p>
                    <a:p>
                      <a:pPr>
                        <a:buNone/>
                      </a:pPr>
                      <a:endParaRPr lang="en-IN" sz="1800" dirty="0">
                        <a:latin typeface="Times New Roman" panose="02020603050405020304" pitchFamily="18" charset="0"/>
                        <a:cs typeface="Times New Roman" panose="02020603050405020304" pitchFamily="18" charset="0"/>
                        <a:sym typeface="+mn-ea"/>
                      </a:endParaRPr>
                    </a:p>
                    <a:p>
                      <a:pPr>
                        <a:buNone/>
                      </a:pPr>
                      <a:r>
                        <a:rPr lang="en-IN" sz="1800" dirty="0">
                          <a:latin typeface="Times New Roman" panose="02020603050405020304" pitchFamily="18" charset="0"/>
                          <a:cs typeface="Times New Roman" panose="02020603050405020304" pitchFamily="18" charset="0"/>
                          <a:sym typeface="+mn-ea"/>
                        </a:rPr>
                        <a:t>Improved screening accuracy using unlabelled data.</a:t>
                      </a:r>
                      <a:endParaRPr lang="en-IN" sz="1800" dirty="0">
                        <a:latin typeface="Times New Roman" panose="02020603050405020304" pitchFamily="18" charset="0"/>
                        <a:cs typeface="Times New Roman" panose="02020603050405020304" pitchFamily="18" charset="0"/>
                      </a:endParaRPr>
                    </a:p>
                    <a:p>
                      <a:pPr>
                        <a:buNone/>
                      </a:pPr>
                      <a:endParaRPr lang="en-IN" sz="1800" dirty="0">
                        <a:latin typeface="Times New Roman" panose="02020603050405020304" pitchFamily="18" charset="0"/>
                        <a:cs typeface="Times New Roman" panose="02020603050405020304" pitchFamily="18" charset="0"/>
                      </a:endParaRPr>
                    </a:p>
                    <a:p>
                      <a:pPr>
                        <a:buNone/>
                      </a:pPr>
                      <a:endParaRPr lang="en-IN"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Accurate 3D shape reconstruction	</a:t>
                      </a:r>
                    </a:p>
                  </a:txBody>
                  <a:tcPr/>
                </a:tc>
                <a:tc>
                  <a:txBody>
                    <a:bodyPr/>
                    <a:lstStyle/>
                    <a:p>
                      <a:pPr>
                        <a:buNone/>
                      </a:pPr>
                      <a:r>
                        <a:rPr lang="en-US" altLang="en-US" dirty="0">
                          <a:latin typeface="Times New Roman" panose="02020603050405020304" pitchFamily="18" charset="0"/>
                          <a:cs typeface="Times New Roman" panose="02020603050405020304" pitchFamily="18" charset="0"/>
                        </a:rPr>
                        <a:t>Works best under controlled lighting</a:t>
                      </a:r>
                      <a:r>
                        <a:rPr lang="en-IN" altLang="en-US" dirty="0">
                          <a:latin typeface="Times New Roman" panose="02020603050405020304" pitchFamily="18" charset="0"/>
                          <a:cs typeface="Times New Roman" panose="02020603050405020304" pitchFamily="18" charset="0"/>
                        </a:rPr>
                        <a:t>.</a:t>
                      </a:r>
                    </a:p>
                    <a:p>
                      <a:pPr>
                        <a:buNone/>
                      </a:pPr>
                      <a:endParaRPr lang="en-IN"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sz="1800" dirty="0">
                        <a:latin typeface="Times New Roman" panose="02020603050405020304" pitchFamily="18" charset="0"/>
                        <a:cs typeface="Times New Roman" panose="02020603050405020304" pitchFamily="18" charset="0"/>
                        <a:sym typeface="+mn-ea"/>
                      </a:endParaRPr>
                    </a:p>
                    <a:p>
                      <a:pPr>
                        <a:buNone/>
                      </a:pPr>
                      <a:r>
                        <a:rPr lang="en-US" altLang="en-US" sz="1800" dirty="0">
                          <a:latin typeface="Times New Roman" panose="02020603050405020304" pitchFamily="18" charset="0"/>
                          <a:cs typeface="Times New Roman" panose="02020603050405020304" pitchFamily="18" charset="0"/>
                          <a:sym typeface="+mn-ea"/>
                        </a:rPr>
                        <a:t>Needs large dataset; limited to 2D images</a:t>
                      </a:r>
                      <a:r>
                        <a:rPr lang="en-IN" altLang="en-US" sz="1800" dirty="0">
                          <a:latin typeface="Times New Roman" panose="02020603050405020304" pitchFamily="18" charset="0"/>
                          <a:cs typeface="Times New Roman" panose="02020603050405020304" pitchFamily="18" charset="0"/>
                          <a:sym typeface="+mn-ea"/>
                        </a:rPr>
                        <a:t>.</a:t>
                      </a:r>
                      <a:endParaRPr lang="en-IN" altLang="en-US" sz="1800"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Needs paired </a:t>
                      </a:r>
                    </a:p>
                    <a:p>
                      <a:pPr>
                        <a:buNone/>
                      </a:pPr>
                      <a:r>
                        <a:rPr lang="en-US" altLang="en-US" dirty="0">
                          <a:latin typeface="Times New Roman" panose="02020603050405020304" pitchFamily="18" charset="0"/>
                          <a:cs typeface="Times New Roman" panose="02020603050405020304" pitchFamily="18" charset="0"/>
                        </a:rPr>
                        <a:t>CT–</a:t>
                      </a:r>
                      <a:r>
                        <a:rPr lang="en-US" altLang="en-US" sz="1800" dirty="0">
                          <a:latin typeface="Times New Roman" panose="02020603050405020304" pitchFamily="18" charset="0"/>
                          <a:cs typeface="Times New Roman" panose="02020603050405020304" pitchFamily="18" charset="0"/>
                          <a:sym typeface="+mn-ea"/>
                        </a:rPr>
                        <a:t>X-ray data</a:t>
                      </a:r>
                      <a:endParaRPr lang="en-US" altLang="en-US" sz="1800"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p>
                      <a:pPr>
                        <a:buNone/>
                      </a:pPr>
                      <a:endParaRPr lang="en-US"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
        <p:nvSpPr>
          <p:cNvPr id="4" name="Text Box 3"/>
          <p:cNvSpPr txBox="1"/>
          <p:nvPr/>
        </p:nvSpPr>
        <p:spPr>
          <a:xfrm>
            <a:off x="-159467" y="175260"/>
            <a:ext cx="4149090" cy="714375"/>
          </a:xfrm>
          <a:prstGeom prst="rect">
            <a:avLst/>
          </a:prstGeom>
          <a:noFill/>
        </p:spPr>
        <p:txBody>
          <a:bodyPr wrap="square" rtlCol="0" anchor="t">
            <a:noAutofit/>
          </a:bodyPr>
          <a:lstStyle/>
          <a:p>
            <a:pPr algn="ctr"/>
            <a:r>
              <a:rPr lang="en-IN" altLang="en-US" sz="2000" b="1" dirty="0">
                <a:latin typeface="Times New Roman" panose="02020603050405020304" pitchFamily="18" charset="0"/>
                <a:cs typeface="Times New Roman" panose="02020603050405020304" pitchFamily="18" charset="0"/>
                <a:sym typeface="+mn-ea"/>
              </a:rPr>
              <a:t>LITERATURE TABLE: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16C86-D049-41A8-2049-74962A27582A}"/>
              </a:ext>
            </a:extLst>
          </p:cNvPr>
          <p:cNvSpPr>
            <a:spLocks noGrp="1"/>
          </p:cNvSpPr>
          <p:nvPr>
            <p:ph type="title"/>
          </p:nvPr>
        </p:nvSpPr>
        <p:spPr/>
        <p:txBody>
          <a:bodyPr>
            <a:normAutofit/>
          </a:bodyPr>
          <a:lstStyle/>
          <a:p>
            <a:pPr algn="ctr"/>
            <a:r>
              <a:rPr lang="en-IN" sz="2400" b="1" dirty="0">
                <a:latin typeface="Times New Roman" panose="02020603050405020304" pitchFamily="18" charset="0"/>
                <a:cs typeface="Times New Roman" panose="02020603050405020304" pitchFamily="18" charset="0"/>
              </a:rPr>
              <a:t>EXISITING SYSTEM</a:t>
            </a:r>
          </a:p>
        </p:txBody>
      </p:sp>
      <p:sp>
        <p:nvSpPr>
          <p:cNvPr id="3" name="Content Placeholder 2">
            <a:extLst>
              <a:ext uri="{FF2B5EF4-FFF2-40B4-BE49-F238E27FC236}">
                <a16:creationId xmlns:a16="http://schemas.microsoft.com/office/drawing/2014/main" id="{E8FAA117-52F8-E75F-2A8E-54FAFD8D67A0}"/>
              </a:ext>
            </a:extLst>
          </p:cNvPr>
          <p:cNvSpPr>
            <a:spLocks noGrp="1"/>
          </p:cNvSpPr>
          <p:nvPr>
            <p:ph idx="1"/>
          </p:nvPr>
        </p:nvSpPr>
        <p:spPr>
          <a:xfrm>
            <a:off x="838200" y="1540488"/>
            <a:ext cx="10515600" cy="4791485"/>
          </a:xfrm>
        </p:spPr>
        <p:txBody>
          <a:bodyPr>
            <a:noAutofit/>
          </a:bodyPr>
          <a:lstStyle/>
          <a:p>
            <a:pPr algn="just"/>
            <a:r>
              <a:rPr lang="en-US" sz="2000" b="1" dirty="0">
                <a:latin typeface="Times New Roman" panose="02020603050405020304" pitchFamily="18" charset="0"/>
                <a:cs typeface="Times New Roman" panose="02020603050405020304" pitchFamily="18" charset="0"/>
              </a:rPr>
              <a:t>Manual Cobb Angle Measurement: </a:t>
            </a:r>
            <a:r>
              <a:rPr lang="en-US" sz="2000" dirty="0">
                <a:latin typeface="Times New Roman" panose="02020603050405020304" pitchFamily="18" charset="0"/>
                <a:cs typeface="Times New Roman" panose="02020603050405020304" pitchFamily="18" charset="0"/>
              </a:rPr>
              <a:t>Radiologists/orthopedic specialists manually identify vertebrae and draw lines to compute the Cobb angle from X-rays.</a:t>
            </a:r>
          </a:p>
          <a:p>
            <a:pPr algn="just"/>
            <a:r>
              <a:rPr lang="en-US" sz="2000" b="1" dirty="0">
                <a:latin typeface="Times New Roman" panose="02020603050405020304" pitchFamily="18" charset="0"/>
                <a:cs typeface="Times New Roman" panose="02020603050405020304" pitchFamily="18" charset="0"/>
              </a:rPr>
              <a:t>Earlier computer-aided diagnosis (CAD) systems (CNN-based):</a:t>
            </a:r>
            <a:r>
              <a:rPr lang="en-US" sz="2000" dirty="0">
                <a:latin typeface="Times New Roman" panose="02020603050405020304" pitchFamily="18" charset="0"/>
                <a:cs typeface="Times New Roman" panose="02020603050405020304" pitchFamily="18" charset="0"/>
              </a:rPr>
              <a:t>Often fail to capture fine anatomical details.</a:t>
            </a:r>
          </a:p>
          <a:p>
            <a:pPr algn="just"/>
            <a:r>
              <a:rPr lang="en-US" sz="2000" dirty="0">
                <a:latin typeface="Times New Roman" panose="02020603050405020304" pitchFamily="18" charset="0"/>
                <a:cs typeface="Times New Roman" panose="02020603050405020304" pitchFamily="18" charset="0"/>
              </a:rPr>
              <a:t>Struggle with noisy, low-resolution.</a:t>
            </a:r>
          </a:p>
          <a:p>
            <a:pPr algn="just"/>
            <a:r>
              <a:rPr lang="en-US" sz="2000" dirty="0">
                <a:latin typeface="Times New Roman" panose="02020603050405020304" pitchFamily="18" charset="0"/>
                <a:cs typeface="Times New Roman" panose="02020603050405020304" pitchFamily="18" charset="0"/>
              </a:rPr>
              <a:t>Usually limited to either segmentation or classification only—not full Cobb angle measurement, so still need human input</a:t>
            </a:r>
          </a:p>
          <a:p>
            <a:pPr marL="0" indent="0" algn="just">
              <a:buNone/>
            </a:pPr>
            <a:r>
              <a:rPr lang="en-US" sz="2200" b="1" dirty="0">
                <a:latin typeface="Times New Roman" panose="02020603050405020304" pitchFamily="18" charset="0"/>
                <a:cs typeface="Times New Roman" panose="02020603050405020304" pitchFamily="18" charset="0"/>
              </a:rPr>
              <a:t>   Disadvantages:</a:t>
            </a:r>
          </a:p>
          <a:p>
            <a:pPr algn="just"/>
            <a:r>
              <a:rPr lang="en-US" sz="2000" dirty="0">
                <a:latin typeface="Times New Roman" panose="02020603050405020304" pitchFamily="18" charset="0"/>
                <a:cs typeface="Times New Roman" panose="02020603050405020304" pitchFamily="18" charset="0"/>
              </a:rPr>
              <a:t>Time-consuming and labor-intensive</a:t>
            </a:r>
          </a:p>
          <a:p>
            <a:pPr algn="just"/>
            <a:r>
              <a:rPr lang="en-US" sz="2000" dirty="0">
                <a:latin typeface="Times New Roman" panose="02020603050405020304" pitchFamily="18" charset="0"/>
                <a:cs typeface="Times New Roman" panose="02020603050405020304" pitchFamily="18" charset="0"/>
              </a:rPr>
              <a:t>Prone to human error(different doctors may give different results)</a:t>
            </a:r>
          </a:p>
          <a:p>
            <a:pPr algn="just"/>
            <a:r>
              <a:rPr lang="en-US" sz="2000" dirty="0">
                <a:latin typeface="Times New Roman" panose="02020603050405020304" pitchFamily="18" charset="0"/>
                <a:cs typeface="Times New Roman" panose="02020603050405020304" pitchFamily="18" charset="0"/>
              </a:rPr>
              <a:t>Requires experienced specialists, limiting access in remote/resource-poor areas</a:t>
            </a:r>
          </a:p>
          <a:p>
            <a:pPr algn="just"/>
            <a:r>
              <a:rPr lang="en-US" sz="2000" dirty="0">
                <a:latin typeface="Times New Roman" panose="02020603050405020304" pitchFamily="18" charset="0"/>
                <a:cs typeface="Times New Roman" panose="02020603050405020304" pitchFamily="18" charset="0"/>
              </a:rPr>
              <a:t>Delays early diagnosis and treatment because of the slow manual process</a:t>
            </a:r>
          </a:p>
        </p:txBody>
      </p:sp>
    </p:spTree>
    <p:extLst>
      <p:ext uri="{BB962C8B-B14F-4D97-AF65-F5344CB8AC3E}">
        <p14:creationId xmlns:p14="http://schemas.microsoft.com/office/powerpoint/2010/main" val="292457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E0512-90AE-A54F-498C-429B427E69F5}"/>
              </a:ext>
            </a:extLst>
          </p:cNvPr>
          <p:cNvSpPr>
            <a:spLocks noGrp="1"/>
          </p:cNvSpPr>
          <p:nvPr>
            <p:ph type="title"/>
          </p:nvPr>
        </p:nvSpPr>
        <p:spPr/>
        <p:txBody>
          <a:bodyPr>
            <a:normAutofit/>
          </a:bodyPr>
          <a:lstStyle/>
          <a:p>
            <a:pPr algn="ctr"/>
            <a:r>
              <a:rPr lang="en-US" sz="2400" b="1" dirty="0">
                <a:latin typeface="Times New Roman" pitchFamily="18" charset="0"/>
                <a:cs typeface="Times New Roman" pitchFamily="18" charset="0"/>
              </a:rPr>
              <a:t>PROPOSED SYSTEM</a:t>
            </a:r>
            <a:endParaRPr lang="en-IN" sz="2400" dirty="0"/>
          </a:p>
        </p:txBody>
      </p:sp>
      <p:sp>
        <p:nvSpPr>
          <p:cNvPr id="3" name="Content Placeholder 2">
            <a:extLst>
              <a:ext uri="{FF2B5EF4-FFF2-40B4-BE49-F238E27FC236}">
                <a16:creationId xmlns:a16="http://schemas.microsoft.com/office/drawing/2014/main" id="{FCBD7218-FC36-770C-5CCF-F4486258B39F}"/>
              </a:ext>
            </a:extLst>
          </p:cNvPr>
          <p:cNvSpPr>
            <a:spLocks noGrp="1"/>
          </p:cNvSpPr>
          <p:nvPr>
            <p:ph idx="1"/>
          </p:nvPr>
        </p:nvSpPr>
        <p:spPr>
          <a:xfrm>
            <a:off x="838200" y="1527161"/>
            <a:ext cx="10515600" cy="5061856"/>
          </a:xfrm>
        </p:spPr>
        <p:txBody>
          <a:bodyPr>
            <a:normAutofit/>
          </a:bodyPr>
          <a:lstStyle/>
          <a:p>
            <a:r>
              <a:rPr lang="en-US" sz="2000" dirty="0">
                <a:latin typeface="Times New Roman" pitchFamily="18" charset="0"/>
                <a:cs typeface="Times New Roman" pitchFamily="18" charset="0"/>
              </a:rPr>
              <a:t>The proposed system introduces an </a:t>
            </a:r>
            <a:r>
              <a:rPr lang="en-US" sz="2000" b="1" dirty="0">
                <a:latin typeface="Times New Roman" pitchFamily="18" charset="0"/>
                <a:cs typeface="Times New Roman" pitchFamily="18" charset="0"/>
              </a:rPr>
              <a:t>AI-driven, fully automated scoliosis assessment framework</a:t>
            </a:r>
            <a:r>
              <a:rPr lang="en-US" sz="2000" dirty="0">
                <a:latin typeface="Times New Roman" pitchFamily="18" charset="0"/>
                <a:cs typeface="Times New Roman" pitchFamily="18" charset="0"/>
              </a:rPr>
              <a:t> that uses </a:t>
            </a:r>
            <a:r>
              <a:rPr lang="en-US" sz="2000" b="1" dirty="0">
                <a:latin typeface="Times New Roman" pitchFamily="18" charset="0"/>
                <a:cs typeface="Times New Roman" pitchFamily="18" charset="0"/>
              </a:rPr>
              <a:t>Generative Adversarial Networks (GANs)</a:t>
            </a:r>
            <a:r>
              <a:rPr lang="en-US" sz="2000" dirty="0">
                <a:latin typeface="Times New Roman" pitchFamily="18" charset="0"/>
                <a:cs typeface="Times New Roman" pitchFamily="18" charset="0"/>
              </a:rPr>
              <a:t> to automatically analyze spinal X-ray images for scoliosis detection. It eliminates the need for manual measurement by performing accurate spine segmentation using deep learning.</a:t>
            </a:r>
          </a:p>
          <a:p>
            <a:r>
              <a:rPr lang="en-US" sz="2000" dirty="0">
                <a:latin typeface="Times New Roman" pitchFamily="18" charset="0"/>
                <a:cs typeface="Times New Roman" pitchFamily="18" charset="0"/>
              </a:rPr>
              <a:t>After segmentation, the system automatically </a:t>
            </a:r>
            <a:r>
              <a:rPr lang="en-US" sz="2000" b="1" dirty="0">
                <a:latin typeface="Times New Roman" pitchFamily="18" charset="0"/>
                <a:cs typeface="Times New Roman" pitchFamily="18" charset="0"/>
              </a:rPr>
              <a:t>identifies vertebral landmarks</a:t>
            </a:r>
            <a:r>
              <a:rPr lang="en-US" sz="2000" dirty="0">
                <a:latin typeface="Times New Roman" pitchFamily="18" charset="0"/>
                <a:cs typeface="Times New Roman" pitchFamily="18" charset="0"/>
              </a:rPr>
              <a:t> and calculates the </a:t>
            </a:r>
            <a:r>
              <a:rPr lang="en-US" sz="2000" b="1" dirty="0">
                <a:latin typeface="Times New Roman" pitchFamily="18" charset="0"/>
                <a:cs typeface="Times New Roman" pitchFamily="18" charset="0"/>
              </a:rPr>
              <a:t>Cobb angle</a:t>
            </a:r>
            <a:r>
              <a:rPr lang="en-US" sz="2000" dirty="0">
                <a:latin typeface="Times New Roman" pitchFamily="18" charset="0"/>
                <a:cs typeface="Times New Roman" pitchFamily="18" charset="0"/>
              </a:rPr>
              <a:t>, which helps determine the severity of spinal curvature. This ensures consistent and objective assessment across different cases.</a:t>
            </a:r>
          </a:p>
          <a:p>
            <a:pPr marL="0" indent="0" algn="just">
              <a:buNone/>
            </a:pPr>
            <a:r>
              <a:rPr lang="en-US" sz="2400" b="1" dirty="0">
                <a:latin typeface="Times New Roman" panose="02020603050405020304" pitchFamily="18" charset="0"/>
                <a:cs typeface="Times New Roman" panose="02020603050405020304" pitchFamily="18" charset="0"/>
              </a:rPr>
              <a:t>   Advantages: </a:t>
            </a:r>
          </a:p>
          <a:p>
            <a:pPr algn="just"/>
            <a:r>
              <a:rPr lang="en-US" sz="2000" dirty="0">
                <a:latin typeface="Times New Roman" panose="02020603050405020304" pitchFamily="18" charset="0"/>
                <a:cs typeface="Times New Roman" panose="02020603050405020304" pitchFamily="18" charset="0"/>
              </a:rPr>
              <a:t>Fully automated and real-time scoliosis measurement</a:t>
            </a:r>
          </a:p>
          <a:p>
            <a:pPr algn="just"/>
            <a:r>
              <a:rPr lang="en-US" sz="2000" dirty="0">
                <a:latin typeface="Times New Roman" panose="02020603050405020304" pitchFamily="18" charset="0"/>
                <a:cs typeface="Times New Roman" panose="02020603050405020304" pitchFamily="18" charset="0"/>
              </a:rPr>
              <a:t>Reduces human error and improves consistency</a:t>
            </a:r>
          </a:p>
          <a:p>
            <a:pPr algn="just"/>
            <a:r>
              <a:rPr lang="en-US" sz="2000" dirty="0">
                <a:latin typeface="Times New Roman" panose="02020603050405020304" pitchFamily="18" charset="0"/>
                <a:cs typeface="Times New Roman" panose="02020603050405020304" pitchFamily="18" charset="0"/>
              </a:rPr>
              <a:t>High accuracy: Cobb angle </a:t>
            </a:r>
          </a:p>
          <a:p>
            <a:pPr algn="just"/>
            <a:r>
              <a:rPr lang="en-US" sz="2000" dirty="0">
                <a:latin typeface="Times New Roman" panose="02020603050405020304" pitchFamily="18" charset="0"/>
                <a:cs typeface="Times New Roman" panose="02020603050405020304" pitchFamily="18" charset="0"/>
              </a:rPr>
              <a:t>Much faster: results in under 3 seconds per image.</a:t>
            </a:r>
          </a:p>
          <a:p>
            <a:pPr algn="just"/>
            <a:r>
              <a:rPr lang="en-US" sz="2000" dirty="0">
                <a:latin typeface="Times New Roman" panose="02020603050405020304" pitchFamily="18" charset="0"/>
                <a:cs typeface="Times New Roman" panose="02020603050405020304" pitchFamily="18" charset="0"/>
              </a:rPr>
              <a:t>Scalable &amp; flexible – works with different datasets, imaging devices, and can integrate into hospitals.</a:t>
            </a:r>
          </a:p>
          <a:p>
            <a:endParaRPr lang="en-IN" dirty="0"/>
          </a:p>
        </p:txBody>
      </p:sp>
    </p:spTree>
    <p:extLst>
      <p:ext uri="{BB962C8B-B14F-4D97-AF65-F5344CB8AC3E}">
        <p14:creationId xmlns:p14="http://schemas.microsoft.com/office/powerpoint/2010/main" val="1696701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55B52-61FF-70B1-05DC-D7564C2A56C4}"/>
              </a:ext>
            </a:extLst>
          </p:cNvPr>
          <p:cNvSpPr>
            <a:spLocks noGrp="1"/>
          </p:cNvSpPr>
          <p:nvPr>
            <p:ph type="title"/>
          </p:nvPr>
        </p:nvSpPr>
        <p:spPr>
          <a:xfrm>
            <a:off x="838200" y="256970"/>
            <a:ext cx="10515600" cy="1325563"/>
          </a:xfrm>
        </p:spPr>
        <p:txBody>
          <a:bodyPr>
            <a:normAutofit/>
          </a:bodyPr>
          <a:lstStyle/>
          <a:p>
            <a:pPr algn="ctr"/>
            <a:r>
              <a:rPr lang="en-US" sz="2400" b="1" dirty="0">
                <a:latin typeface="Times New Roman" panose="02020603050405020304" pitchFamily="18" charset="0"/>
                <a:cs typeface="Times New Roman" panose="02020603050405020304" pitchFamily="18" charset="0"/>
              </a:rPr>
              <a:t>SYSTEM ARCHITECTURE</a:t>
            </a:r>
            <a:endParaRPr lang="en-IN" sz="2400" b="1"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80F9796B-F96C-3DB4-2DDE-21721CF3E0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20143" y="1349828"/>
            <a:ext cx="5399315" cy="5355772"/>
          </a:xfrm>
        </p:spPr>
      </p:pic>
    </p:spTree>
    <p:extLst>
      <p:ext uri="{BB962C8B-B14F-4D97-AF65-F5344CB8AC3E}">
        <p14:creationId xmlns:p14="http://schemas.microsoft.com/office/powerpoint/2010/main" val="3021377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AA0C6-9628-4B9D-D748-493080EDE6BE}"/>
              </a:ext>
            </a:extLst>
          </p:cNvPr>
          <p:cNvSpPr>
            <a:spLocks noGrp="1"/>
          </p:cNvSpPr>
          <p:nvPr>
            <p:ph type="title"/>
          </p:nvPr>
        </p:nvSpPr>
        <p:spPr>
          <a:xfrm>
            <a:off x="907026" y="227473"/>
            <a:ext cx="10515600" cy="1325563"/>
          </a:xfrm>
        </p:spPr>
        <p:txBody>
          <a:bodyPr>
            <a:normAutofit/>
          </a:bodyPr>
          <a:lstStyle/>
          <a:p>
            <a:pPr algn="ctr"/>
            <a:r>
              <a:rPr lang="en-US" sz="2400" b="1" dirty="0">
                <a:latin typeface="Times New Roman" panose="02020603050405020304" pitchFamily="18" charset="0"/>
                <a:cs typeface="Times New Roman" panose="02020603050405020304" pitchFamily="18" charset="0"/>
              </a:rPr>
              <a:t>USE-CASE DIAGRAM</a:t>
            </a:r>
            <a:endParaRPr lang="en-IN" sz="2400" b="1"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3FB3B059-128F-5240-61C5-B541FD54FF9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18114" y="1251856"/>
            <a:ext cx="5540829" cy="5214257"/>
          </a:xfrm>
          <a:prstGeom prst="rect">
            <a:avLst/>
          </a:prstGeom>
        </p:spPr>
      </p:pic>
    </p:spTree>
    <p:extLst>
      <p:ext uri="{BB962C8B-B14F-4D97-AF65-F5344CB8AC3E}">
        <p14:creationId xmlns:p14="http://schemas.microsoft.com/office/powerpoint/2010/main" val="4283986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79E4-3058-E3F6-C7FD-8ABFCAC8462D}"/>
              </a:ext>
            </a:extLst>
          </p:cNvPr>
          <p:cNvSpPr>
            <a:spLocks noGrp="1"/>
          </p:cNvSpPr>
          <p:nvPr>
            <p:ph type="title"/>
          </p:nvPr>
        </p:nvSpPr>
        <p:spPr>
          <a:xfrm>
            <a:off x="838200" y="-132601"/>
            <a:ext cx="10515600" cy="1325563"/>
          </a:xfrm>
        </p:spPr>
        <p:txBody>
          <a:bodyPr>
            <a:normAutofit/>
          </a:bodyPr>
          <a:lstStyle/>
          <a:p>
            <a:pPr algn="ctr"/>
            <a:r>
              <a:rPr lang="en-US" sz="2400" b="1" dirty="0">
                <a:latin typeface="Times New Roman" panose="02020603050405020304" pitchFamily="18" charset="0"/>
                <a:cs typeface="Times New Roman" panose="02020603050405020304" pitchFamily="18" charset="0"/>
              </a:rPr>
              <a:t>CLASS DIAGRAM</a:t>
            </a:r>
            <a:endParaRPr lang="en-IN" sz="24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382C514-086A-4515-22A3-CC6A80C00A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73937" y="1192962"/>
            <a:ext cx="8444126" cy="5403781"/>
          </a:xfrm>
        </p:spPr>
      </p:pic>
    </p:spTree>
    <p:extLst>
      <p:ext uri="{BB962C8B-B14F-4D97-AF65-F5344CB8AC3E}">
        <p14:creationId xmlns:p14="http://schemas.microsoft.com/office/powerpoint/2010/main" val="2822436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2053E-384E-35C7-24B5-E6EDFF644AD0}"/>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SEQUENCE DIAGRAM</a:t>
            </a:r>
            <a:endParaRPr lang="en-IN" sz="2400" b="1" dirty="0">
              <a:latin typeface="Times New Roman" panose="02020603050405020304" pitchFamily="18" charset="0"/>
              <a:cs typeface="Times New Roman" panose="02020603050405020304" pitchFamily="18" charset="0"/>
            </a:endParaRPr>
          </a:p>
        </p:txBody>
      </p:sp>
      <p:pic>
        <p:nvPicPr>
          <p:cNvPr id="2050" name="Picture 2" descr="PlantUML diagram">
            <a:extLst>
              <a:ext uri="{FF2B5EF4-FFF2-40B4-BE49-F238E27FC236}">
                <a16:creationId xmlns:a16="http://schemas.microsoft.com/office/drawing/2014/main" id="{59369A3A-1269-2E69-3328-786B5A9D2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387" y="1773033"/>
            <a:ext cx="9960078"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611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9C79E-A564-6A10-A9B7-11BFB3B1AFE8}"/>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ACTIVITY DIAGRAM</a:t>
            </a:r>
            <a:endParaRPr lang="en-IN" sz="24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AEECAF9-A9CB-89E4-7D03-C3CECD68B2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2065" y="1412669"/>
            <a:ext cx="4193540" cy="5080205"/>
          </a:xfrm>
        </p:spPr>
      </p:pic>
      <p:pic>
        <p:nvPicPr>
          <p:cNvPr id="7" name="Picture 6">
            <a:extLst>
              <a:ext uri="{FF2B5EF4-FFF2-40B4-BE49-F238E27FC236}">
                <a16:creationId xmlns:a16="http://schemas.microsoft.com/office/drawing/2014/main" id="{D524A61D-95B6-9747-DED2-CE433D7ACE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9765" y="1282700"/>
            <a:ext cx="6932470" cy="4787901"/>
          </a:xfrm>
          <a:prstGeom prst="rect">
            <a:avLst/>
          </a:prstGeom>
        </p:spPr>
      </p:pic>
    </p:spTree>
    <p:extLst>
      <p:ext uri="{BB962C8B-B14F-4D97-AF65-F5344CB8AC3E}">
        <p14:creationId xmlns:p14="http://schemas.microsoft.com/office/powerpoint/2010/main" val="2809031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AA65-CADA-D41A-23C2-63DAADC65E90}"/>
              </a:ext>
            </a:extLst>
          </p:cNvPr>
          <p:cNvSpPr>
            <a:spLocks noGrp="1"/>
          </p:cNvSpPr>
          <p:nvPr>
            <p:ph type="title"/>
          </p:nvPr>
        </p:nvSpPr>
        <p:spPr>
          <a:xfrm>
            <a:off x="985684" y="214927"/>
            <a:ext cx="10515600" cy="1325563"/>
          </a:xfrm>
        </p:spPr>
        <p:txBody>
          <a:bodyPr>
            <a:normAutofit/>
          </a:bodyPr>
          <a:lstStyle/>
          <a:p>
            <a:pPr algn="ctr"/>
            <a:r>
              <a:rPr lang="en-US" sz="2400" b="1" dirty="0">
                <a:latin typeface="Times New Roman" panose="02020603050405020304" pitchFamily="18" charset="0"/>
                <a:cs typeface="Times New Roman" panose="02020603050405020304" pitchFamily="18" charset="0"/>
              </a:rPr>
              <a:t>  DEPLOYEMENT DIAGRAM</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EC6FF4-C10B-F0D2-86B4-0D6013E880BD}"/>
              </a:ext>
            </a:extLst>
          </p:cNvPr>
          <p:cNvSpPr>
            <a:spLocks noGrp="1"/>
          </p:cNvSpPr>
          <p:nvPr>
            <p:ph idx="1"/>
          </p:nvPr>
        </p:nvSpPr>
        <p:spPr/>
        <p:txBody>
          <a:bodyPr/>
          <a:lstStyle/>
          <a:p>
            <a:pPr marL="0" indent="0">
              <a:buNone/>
            </a:pPr>
            <a:r>
              <a:rPr lang="en-US" dirty="0"/>
              <a:t> </a:t>
            </a:r>
            <a:endParaRPr lang="en-IN" dirty="0"/>
          </a:p>
        </p:txBody>
      </p:sp>
      <p:pic>
        <p:nvPicPr>
          <p:cNvPr id="3074" name="Picture 2" descr="PlantUML diagram">
            <a:extLst>
              <a:ext uri="{FF2B5EF4-FFF2-40B4-BE49-F238E27FC236}">
                <a16:creationId xmlns:a16="http://schemas.microsoft.com/office/drawing/2014/main" id="{D094DB38-4E65-A4A9-380D-F06719782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7032" y="1286998"/>
            <a:ext cx="3932904" cy="5428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477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9CF5-4889-28FC-97E1-59B126403460}"/>
              </a:ext>
            </a:extLst>
          </p:cNvPr>
          <p:cNvSpPr>
            <a:spLocks noGrp="1"/>
          </p:cNvSpPr>
          <p:nvPr>
            <p:ph type="title"/>
          </p:nvPr>
        </p:nvSpPr>
        <p:spPr/>
        <p:txBody>
          <a:bodyPr>
            <a:normAutofit/>
          </a:bodyPr>
          <a:lstStyle/>
          <a:p>
            <a:pPr algn="ctr"/>
            <a:r>
              <a:rPr lang="en-IN" sz="2400" b="1" dirty="0">
                <a:latin typeface="Times New Roman" panose="02020603050405020304" pitchFamily="18" charset="0"/>
                <a:cs typeface="Times New Roman" panose="02020603050405020304" pitchFamily="18" charset="0"/>
              </a:rPr>
              <a:t>DATA FLOW DIAGRAM</a:t>
            </a:r>
          </a:p>
        </p:txBody>
      </p:sp>
      <p:pic>
        <p:nvPicPr>
          <p:cNvPr id="5" name="Content Placeholder 4">
            <a:extLst>
              <a:ext uri="{FF2B5EF4-FFF2-40B4-BE49-F238E27FC236}">
                <a16:creationId xmlns:a16="http://schemas.microsoft.com/office/drawing/2014/main" id="{130BDD8C-6301-2CBB-9830-EE4FE979D2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515600" cy="3840658"/>
          </a:xfrm>
          <a:prstGeom prst="rect">
            <a:avLst/>
          </a:prstGeom>
        </p:spPr>
      </p:pic>
    </p:spTree>
    <p:extLst>
      <p:ext uri="{BB962C8B-B14F-4D97-AF65-F5344CB8AC3E}">
        <p14:creationId xmlns:p14="http://schemas.microsoft.com/office/powerpoint/2010/main" val="1887516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460E-45C0-94FC-041F-C3B921979589}"/>
              </a:ext>
            </a:extLst>
          </p:cNvPr>
          <p:cNvSpPr>
            <a:spLocks noGrp="1"/>
          </p:cNvSpPr>
          <p:nvPr>
            <p:ph type="title"/>
          </p:nvPr>
        </p:nvSpPr>
        <p:spPr/>
        <p:txBody>
          <a:bodyPr>
            <a:normAutofit/>
          </a:bodyPr>
          <a:lstStyle/>
          <a:p>
            <a:pPr algn="ctr"/>
            <a:r>
              <a:rPr lang="en-IN" sz="2400" b="1" dirty="0">
                <a:latin typeface="Times New Roman" panose="02020603050405020304" pitchFamily="18" charset="0"/>
                <a:cs typeface="Times New Roman" panose="02020603050405020304" pitchFamily="18" charset="0"/>
              </a:rPr>
              <a:t>ER-DIAGRAM</a:t>
            </a:r>
          </a:p>
        </p:txBody>
      </p:sp>
      <p:pic>
        <p:nvPicPr>
          <p:cNvPr id="5" name="Content Placeholder 4">
            <a:extLst>
              <a:ext uri="{FF2B5EF4-FFF2-40B4-BE49-F238E27FC236}">
                <a16:creationId xmlns:a16="http://schemas.microsoft.com/office/drawing/2014/main" id="{0494667B-09EB-5378-F279-BBE9320B74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54163"/>
            <a:ext cx="10515600" cy="2149673"/>
          </a:xfrm>
          <a:prstGeom prst="rect">
            <a:avLst/>
          </a:prstGeom>
        </p:spPr>
      </p:pic>
    </p:spTree>
    <p:extLst>
      <p:ext uri="{BB962C8B-B14F-4D97-AF65-F5344CB8AC3E}">
        <p14:creationId xmlns:p14="http://schemas.microsoft.com/office/powerpoint/2010/main" val="1054418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9445" y="737420"/>
            <a:ext cx="4534768" cy="523220"/>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SOFTWARE</a:t>
            </a:r>
            <a:r>
              <a:rPr lang="en-US" sz="28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REQUIREMENTS</a:t>
            </a:r>
            <a:endParaRPr lang="en-IN" sz="24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24363" y="1925603"/>
            <a:ext cx="10136301" cy="2246769"/>
          </a:xfrm>
          <a:prstGeom prst="rect">
            <a:avLst/>
          </a:prstGeom>
          <a:noFill/>
        </p:spPr>
        <p:txBody>
          <a:bodyPr wrap="none" rtlCol="0">
            <a:spAutoFit/>
          </a:bodyPr>
          <a:lstStyle/>
          <a:p>
            <a:pPr algn="just"/>
            <a:r>
              <a:rPr lang="en-US" sz="2000" b="1" dirty="0">
                <a:latin typeface="Times New Roman" panose="02020603050405020304" pitchFamily="18" charset="0"/>
                <a:cs typeface="Times New Roman" panose="02020603050405020304" pitchFamily="18" charset="0"/>
              </a:rPr>
              <a:t>Operating System: </a:t>
            </a:r>
            <a:r>
              <a:rPr lang="en-US" sz="2000" dirty="0">
                <a:latin typeface="Times New Roman" panose="02020603050405020304" pitchFamily="18" charset="0"/>
                <a:cs typeface="Times New Roman" panose="02020603050405020304" pitchFamily="18" charset="0"/>
              </a:rPr>
              <a:t>Windows 10/11 </a:t>
            </a:r>
          </a:p>
          <a:p>
            <a:pPr algn="just"/>
            <a:r>
              <a:rPr lang="en-US" sz="2000" b="1" dirty="0">
                <a:latin typeface="Times New Roman" panose="02020603050405020304" pitchFamily="18" charset="0"/>
                <a:cs typeface="Times New Roman" panose="02020603050405020304" pitchFamily="18" charset="0"/>
              </a:rPr>
              <a:t>Programming Language:</a:t>
            </a:r>
            <a:r>
              <a:rPr lang="en-US" sz="2000" dirty="0">
                <a:latin typeface="Times New Roman" panose="02020603050405020304" pitchFamily="18" charset="0"/>
                <a:cs typeface="Times New Roman" panose="02020603050405020304" pitchFamily="18" charset="0"/>
              </a:rPr>
              <a:t> Python– widely used in machine learning and image processing</a:t>
            </a:r>
          </a:p>
          <a:p>
            <a:pPr algn="just"/>
            <a:r>
              <a:rPr lang="en-US" sz="2000" dirty="0">
                <a:latin typeface="Times New Roman" panose="02020603050405020304" pitchFamily="18" charset="0"/>
                <a:cs typeface="Times New Roman" panose="02020603050405020304" pitchFamily="18" charset="0"/>
              </a:rPr>
              <a:t>applications. </a:t>
            </a:r>
          </a:p>
          <a:p>
            <a:pPr algn="just"/>
            <a:r>
              <a:rPr lang="en-US" sz="2000" b="1" dirty="0">
                <a:latin typeface="Times New Roman" panose="02020603050405020304" pitchFamily="18" charset="0"/>
                <a:cs typeface="Times New Roman" panose="02020603050405020304" pitchFamily="18" charset="0"/>
              </a:rPr>
              <a:t>Deep Learning Framework: </a:t>
            </a:r>
            <a:r>
              <a:rPr lang="en-US" sz="2000" dirty="0" err="1">
                <a:latin typeface="Times New Roman" panose="02020603050405020304" pitchFamily="18" charset="0"/>
                <a:cs typeface="Times New Roman" panose="02020603050405020304" pitchFamily="18" charset="0"/>
              </a:rPr>
              <a:t>PyTorch</a:t>
            </a:r>
            <a:r>
              <a:rPr lang="en-US" sz="2000" dirty="0">
                <a:latin typeface="Times New Roman" panose="02020603050405020304" pitchFamily="18" charset="0"/>
                <a:cs typeface="Times New Roman" panose="02020603050405020304" pitchFamily="18" charset="0"/>
              </a:rPr>
              <a:t> – for model architecture (GAN), training, and inference.</a:t>
            </a:r>
          </a:p>
          <a:p>
            <a:pPr algn="just"/>
            <a:r>
              <a:rPr lang="en-US" sz="2000" b="1" dirty="0">
                <a:latin typeface="Times New Roman" panose="02020603050405020304" pitchFamily="18" charset="0"/>
                <a:cs typeface="Times New Roman" panose="02020603050405020304" pitchFamily="18" charset="0"/>
              </a:rPr>
              <a:t>Image Processing Libraries: </a:t>
            </a:r>
            <a:r>
              <a:rPr lang="en-US" sz="2000" dirty="0">
                <a:latin typeface="Times New Roman" panose="02020603050405020304" pitchFamily="18" charset="0"/>
                <a:cs typeface="Times New Roman" panose="02020603050405020304" pitchFamily="18" charset="0"/>
              </a:rPr>
              <a:t>OpenCV and PIL – for preprocessing, segmentation visualization,</a:t>
            </a:r>
          </a:p>
          <a:p>
            <a:pPr algn="just"/>
            <a:r>
              <a:rPr lang="en-US" sz="2000" dirty="0">
                <a:latin typeface="Times New Roman" panose="02020603050405020304" pitchFamily="18" charset="0"/>
                <a:cs typeface="Times New Roman" panose="02020603050405020304" pitchFamily="18" charset="0"/>
              </a:rPr>
              <a:t> and feature enhancement. </a:t>
            </a:r>
          </a:p>
          <a:p>
            <a:pPr algn="just"/>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HARDWARE REQUIREMENTS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2000" b="1" dirty="0">
                <a:latin typeface="Times New Roman" panose="02020603050405020304" pitchFamily="18" charset="0"/>
                <a:cs typeface="Times New Roman" panose="02020603050405020304" pitchFamily="18" charset="0"/>
              </a:rPr>
              <a:t>Processor (CPU): </a:t>
            </a:r>
            <a:r>
              <a:rPr lang="en-US" sz="2000" dirty="0">
                <a:latin typeface="Times New Roman" panose="02020603050405020304" pitchFamily="18" charset="0"/>
                <a:cs typeface="Times New Roman" panose="02020603050405020304" pitchFamily="18" charset="0"/>
              </a:rPr>
              <a:t>Intel Core i7– for efficient parallel computation and faster data handling. </a:t>
            </a:r>
          </a:p>
          <a:p>
            <a:pPr algn="just"/>
            <a:r>
              <a:rPr lang="en-US" sz="2000" b="1" dirty="0">
                <a:latin typeface="Times New Roman" panose="02020603050405020304" pitchFamily="18" charset="0"/>
                <a:cs typeface="Times New Roman" panose="02020603050405020304" pitchFamily="18" charset="0"/>
              </a:rPr>
              <a:t>RAM: </a:t>
            </a:r>
            <a:r>
              <a:rPr lang="en-US" sz="2000" dirty="0">
                <a:latin typeface="Times New Roman" panose="02020603050405020304" pitchFamily="18" charset="0"/>
                <a:cs typeface="Times New Roman" panose="02020603050405020304" pitchFamily="18" charset="0"/>
              </a:rPr>
              <a:t>Minimum 16GB – to handle high-resolution X-ray images and batch processing during model training. </a:t>
            </a:r>
          </a:p>
          <a:p>
            <a:pPr algn="just"/>
            <a:r>
              <a:rPr lang="en-US" sz="2000" b="1" dirty="0">
                <a:latin typeface="Times New Roman" panose="02020603050405020304" pitchFamily="18" charset="0"/>
                <a:cs typeface="Times New Roman" panose="02020603050405020304" pitchFamily="18" charset="0"/>
              </a:rPr>
              <a:t>Display Monitor: </a:t>
            </a:r>
            <a:r>
              <a:rPr lang="en-US" sz="2000" dirty="0">
                <a:latin typeface="Times New Roman" panose="02020603050405020304" pitchFamily="18" charset="0"/>
                <a:cs typeface="Times New Roman" panose="02020603050405020304" pitchFamily="18" charset="0"/>
              </a:rPr>
              <a:t>High-resolution display for accurate visualization of segmentation results and Cobb angle overlays.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CB01-2A15-D759-68C8-D824882A9F23}"/>
              </a:ext>
            </a:extLst>
          </p:cNvPr>
          <p:cNvSpPr>
            <a:spLocks noGrp="1"/>
          </p:cNvSpPr>
          <p:nvPr>
            <p:ph type="title"/>
          </p:nvPr>
        </p:nvSpPr>
        <p:spPr/>
        <p:txBody>
          <a:bodyPr>
            <a:normAutofit/>
          </a:bodyPr>
          <a:lstStyle/>
          <a:p>
            <a:pPr algn="ctr"/>
            <a:r>
              <a:rPr lang="en-IN" sz="2400" b="1" dirty="0">
                <a:latin typeface="Times New Roman" panose="02020603050405020304" pitchFamily="18" charset="0"/>
                <a:cs typeface="Times New Roman" panose="02020603050405020304" pitchFamily="18" charset="0"/>
              </a:rPr>
              <a:t>ALGORITHMS</a:t>
            </a:r>
          </a:p>
        </p:txBody>
      </p:sp>
      <p:sp>
        <p:nvSpPr>
          <p:cNvPr id="3" name="Content Placeholder 2">
            <a:extLst>
              <a:ext uri="{FF2B5EF4-FFF2-40B4-BE49-F238E27FC236}">
                <a16:creationId xmlns:a16="http://schemas.microsoft.com/office/drawing/2014/main" id="{1D72FB9A-3C5C-9ADB-EED3-F229ABEEBBD8}"/>
              </a:ext>
            </a:extLst>
          </p:cNvPr>
          <p:cNvSpPr>
            <a:spLocks noGrp="1"/>
          </p:cNvSpPr>
          <p:nvPr>
            <p:ph idx="1"/>
          </p:nvPr>
        </p:nvSpPr>
        <p:spPr>
          <a:xfrm>
            <a:off x="838200" y="1426029"/>
            <a:ext cx="10515600" cy="5236028"/>
          </a:xfrm>
        </p:spPr>
        <p:txBody>
          <a:bodyPr>
            <a:normAutofit/>
          </a:bodyPr>
          <a:lstStyle/>
          <a:p>
            <a:r>
              <a:rPr lang="en-IN" sz="2200" b="1" dirty="0">
                <a:latin typeface="Times New Roman" panose="02020603050405020304" pitchFamily="18" charset="0"/>
                <a:cs typeface="Times New Roman" panose="02020603050405020304" pitchFamily="18" charset="0"/>
              </a:rPr>
              <a:t>Generative Adversarial Networks (GANs): </a:t>
            </a:r>
            <a:r>
              <a:rPr lang="en-IN" sz="2000" dirty="0">
                <a:latin typeface="Times New Roman" panose="02020603050405020304" pitchFamily="18" charset="0"/>
                <a:cs typeface="Times New Roman" panose="02020603050405020304" pitchFamily="18" charset="0"/>
              </a:rPr>
              <a:t>Core deep learning model used for spine segmentation</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Consists of: </a:t>
            </a:r>
          </a:p>
          <a:p>
            <a:pPr marL="0" indent="0">
              <a:buNone/>
            </a:pPr>
            <a:r>
              <a:rPr lang="en-IN" sz="2000" b="1" dirty="0">
                <a:latin typeface="Times New Roman" panose="02020603050405020304" pitchFamily="18" charset="0"/>
                <a:cs typeface="Times New Roman" panose="02020603050405020304" pitchFamily="18" charset="0"/>
              </a:rPr>
              <a:t>   Generator</a:t>
            </a:r>
            <a:r>
              <a:rPr lang="en-IN" sz="2000" dirty="0">
                <a:latin typeface="Times New Roman" panose="02020603050405020304" pitchFamily="18" charset="0"/>
                <a:cs typeface="Times New Roman" panose="02020603050405020304" pitchFamily="18" charset="0"/>
              </a:rPr>
              <a:t>– generates spine segmentation masks  </a:t>
            </a:r>
          </a:p>
          <a:p>
            <a:pPr marL="0" indent="0">
              <a:buNone/>
            </a:pPr>
            <a:r>
              <a:rPr lang="en-IN" sz="2000" b="1" dirty="0">
                <a:latin typeface="Times New Roman" panose="02020603050405020304" pitchFamily="18" charset="0"/>
                <a:cs typeface="Times New Roman" panose="02020603050405020304" pitchFamily="18" charset="0"/>
              </a:rPr>
              <a:t>   Discriminator</a:t>
            </a:r>
            <a:r>
              <a:rPr lang="en-IN" sz="2000" dirty="0">
                <a:latin typeface="Times New Roman" panose="02020603050405020304" pitchFamily="18" charset="0"/>
                <a:cs typeface="Times New Roman" panose="02020603050405020304" pitchFamily="18" charset="0"/>
              </a:rPr>
              <a:t>– validates generated masks against real annotations</a:t>
            </a:r>
          </a:p>
          <a:p>
            <a:r>
              <a:rPr lang="en-US" sz="2200" b="1" dirty="0">
                <a:latin typeface="Times New Roman" panose="02020603050405020304" pitchFamily="18" charset="0"/>
                <a:cs typeface="Times New Roman" panose="02020603050405020304" pitchFamily="18" charset="0"/>
              </a:rPr>
              <a:t>Conditional GAN (</a:t>
            </a:r>
            <a:r>
              <a:rPr lang="en-US" sz="2200" b="1" dirty="0" err="1">
                <a:latin typeface="Times New Roman" panose="02020603050405020304" pitchFamily="18" charset="0"/>
                <a:cs typeface="Times New Roman" panose="02020603050405020304" pitchFamily="18" charset="0"/>
              </a:rPr>
              <a:t>cGAN</a:t>
            </a:r>
            <a:r>
              <a:rPr lang="en-US" sz="22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GAN conditioned on input X-ray images. Ensures segmentation output is directly dependent on the given X-ray. Improves segmentation accuracy for different spine shapes and curvatures.</a:t>
            </a:r>
          </a:p>
          <a:p>
            <a:r>
              <a:rPr lang="en-IN" sz="2200" b="1" dirty="0">
                <a:latin typeface="Times New Roman" panose="02020603050405020304" pitchFamily="18" charset="0"/>
                <a:cs typeface="Times New Roman" panose="02020603050405020304" pitchFamily="18" charset="0"/>
              </a:rPr>
              <a:t>Convolutional Neural Networks (CNNs):</a:t>
            </a:r>
            <a:r>
              <a:rPr lang="en-IN" sz="2000" dirty="0">
                <a:latin typeface="Times New Roman" panose="02020603050405020304" pitchFamily="18" charset="0"/>
                <a:cs typeface="Times New Roman" panose="02020603050405020304" pitchFamily="18" charset="0"/>
              </a:rPr>
              <a:t>Used inside GAN (Generator &amp; Discriminator). Automatically extracts spatial features such as:  </a:t>
            </a:r>
          </a:p>
          <a:p>
            <a:pPr marL="0" indent="0">
              <a:buNone/>
            </a:pPr>
            <a:r>
              <a:rPr lang="en-IN" sz="2000" dirty="0">
                <a:latin typeface="Times New Roman" panose="02020603050405020304" pitchFamily="18" charset="0"/>
                <a:cs typeface="Times New Roman" panose="02020603050405020304" pitchFamily="18" charset="0"/>
              </a:rPr>
              <a:t>    Vertebral edges  </a:t>
            </a:r>
          </a:p>
          <a:p>
            <a:pPr marL="0" indent="0">
              <a:buNone/>
            </a:pPr>
            <a:r>
              <a:rPr lang="en-IN" sz="2000" dirty="0">
                <a:latin typeface="Times New Roman" panose="02020603050405020304" pitchFamily="18" charset="0"/>
                <a:cs typeface="Times New Roman" panose="02020603050405020304" pitchFamily="18" charset="0"/>
              </a:rPr>
              <a:t>    Curvature patterns  </a:t>
            </a:r>
          </a:p>
          <a:p>
            <a:pPr marL="0" indent="0">
              <a:buNone/>
            </a:pPr>
            <a:r>
              <a:rPr lang="en-IN" sz="2000" dirty="0">
                <a:latin typeface="Times New Roman" panose="02020603050405020304" pitchFamily="18" charset="0"/>
                <a:cs typeface="Times New Roman" panose="02020603050405020304" pitchFamily="18" charset="0"/>
              </a:rPr>
              <a:t>    Spine alignment</a:t>
            </a:r>
          </a:p>
          <a:p>
            <a:r>
              <a:rPr lang="en-US" sz="20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Image Segmentation Algorithms: </a:t>
            </a:r>
            <a:r>
              <a:rPr lang="en-US" sz="2000" dirty="0">
                <a:latin typeface="Times New Roman" panose="02020603050405020304" pitchFamily="18" charset="0"/>
                <a:cs typeface="Times New Roman" panose="02020603050405020304" pitchFamily="18" charset="0"/>
              </a:rPr>
              <a:t>Pixel-level classification of spine vs background.</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Output</a:t>
            </a:r>
            <a:r>
              <a:rPr lang="en-US" sz="2000" dirty="0">
                <a:latin typeface="Times New Roman" panose="02020603050405020304" pitchFamily="18" charset="0"/>
                <a:cs typeface="Times New Roman" panose="02020603050405020304" pitchFamily="18" charset="0"/>
              </a:rPr>
              <a:t>: Binary or multi-class segmentation mask of spinal column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0111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3EB6-5893-C7DE-C663-9296EBDD812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CC7AA21-9C09-5F87-37E9-79D18EB8EBCF}"/>
              </a:ext>
            </a:extLst>
          </p:cNvPr>
          <p:cNvSpPr>
            <a:spLocks noGrp="1"/>
          </p:cNvSpPr>
          <p:nvPr>
            <p:ph idx="1"/>
          </p:nvPr>
        </p:nvSpPr>
        <p:spPr>
          <a:xfrm>
            <a:off x="838200" y="1690687"/>
            <a:ext cx="10515600" cy="5047569"/>
          </a:xfrm>
        </p:spPr>
        <p:txBody>
          <a:bodyPr>
            <a:normAutofit lnSpcReduction="10000"/>
          </a:bodyPr>
          <a:lstStyle/>
          <a:p>
            <a:r>
              <a:rPr lang="en-IN" sz="2200" b="1" dirty="0">
                <a:latin typeface="Times New Roman" panose="02020603050405020304" pitchFamily="18" charset="0"/>
                <a:cs typeface="Times New Roman" panose="02020603050405020304" pitchFamily="18" charset="0"/>
              </a:rPr>
              <a:t>Image Preprocessing Techniques:</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Normalization– </a:t>
            </a:r>
            <a:r>
              <a:rPr lang="en-IN" sz="2000" dirty="0">
                <a:latin typeface="Times New Roman" panose="02020603050405020304" pitchFamily="18" charset="0"/>
                <a:cs typeface="Times New Roman" panose="02020603050405020304" pitchFamily="18" charset="0"/>
              </a:rPr>
              <a:t>standardizes pixel values</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Resizing– </a:t>
            </a:r>
            <a:r>
              <a:rPr lang="en-IN" sz="2000" dirty="0">
                <a:latin typeface="Times New Roman" panose="02020603050405020304" pitchFamily="18" charset="0"/>
                <a:cs typeface="Times New Roman" panose="02020603050405020304" pitchFamily="18" charset="0"/>
              </a:rPr>
              <a:t>uniform input size</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Noise reduction– </a:t>
            </a:r>
            <a:r>
              <a:rPr lang="en-IN" sz="2000" dirty="0">
                <a:latin typeface="Times New Roman" panose="02020603050405020304" pitchFamily="18" charset="0"/>
                <a:cs typeface="Times New Roman" panose="02020603050405020304" pitchFamily="18" charset="0"/>
              </a:rPr>
              <a:t>Gaussian filtering</a:t>
            </a:r>
          </a:p>
          <a:p>
            <a:r>
              <a:rPr lang="en-US" sz="2200" b="1" dirty="0">
                <a:latin typeface="Times New Roman" panose="02020603050405020304" pitchFamily="18" charset="0"/>
                <a:cs typeface="Times New Roman" panose="02020603050405020304" pitchFamily="18" charset="0"/>
              </a:rPr>
              <a:t>Feature Extraction Algorithms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Edge detection, Contour detection, Morphological</a:t>
            </a:r>
          </a:p>
          <a:p>
            <a:pPr marL="0" indent="0">
              <a:buNone/>
            </a:pPr>
            <a:r>
              <a:rPr lang="en-US" sz="2000" dirty="0">
                <a:latin typeface="Times New Roman" panose="02020603050405020304" pitchFamily="18" charset="0"/>
                <a:cs typeface="Times New Roman" panose="02020603050405020304" pitchFamily="18" charset="0"/>
              </a:rPr>
              <a:t>    operations.</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Used to identify: </a:t>
            </a:r>
            <a:r>
              <a:rPr lang="en-US" sz="2000" dirty="0">
                <a:latin typeface="Times New Roman" panose="02020603050405020304" pitchFamily="18" charset="0"/>
                <a:cs typeface="Times New Roman" panose="02020603050405020304" pitchFamily="18" charset="0"/>
              </a:rPr>
              <a:t>Vertebral boundaries ,Most tilted vertebrae</a:t>
            </a:r>
            <a:r>
              <a:rPr lang="en-IN" sz="2000" dirty="0">
                <a:latin typeface="Times New Roman" panose="02020603050405020304" pitchFamily="18" charset="0"/>
                <a:cs typeface="Times New Roman" panose="02020603050405020304" pitchFamily="18" charset="0"/>
              </a:rPr>
              <a:t>.</a:t>
            </a:r>
          </a:p>
          <a:p>
            <a:r>
              <a:rPr lang="en-US" sz="2200" b="1" dirty="0">
                <a:latin typeface="Times New Roman" panose="02020603050405020304" pitchFamily="18" charset="0"/>
                <a:cs typeface="Times New Roman" panose="02020603050405020304" pitchFamily="18" charset="0"/>
              </a:rPr>
              <a:t>Geometric angle calculation using: </a:t>
            </a:r>
            <a:r>
              <a:rPr lang="en-US" sz="2000" dirty="0">
                <a:latin typeface="Times New Roman" panose="02020603050405020304" pitchFamily="18" charset="0"/>
                <a:cs typeface="Times New Roman" panose="02020603050405020304" pitchFamily="18" charset="0"/>
              </a:rPr>
              <a:t>Lines drawn along upper &amp; lower tilted vertebrae.</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Final output: </a:t>
            </a:r>
            <a:r>
              <a:rPr lang="en-US" sz="2000" dirty="0">
                <a:latin typeface="Times New Roman" panose="02020603050405020304" pitchFamily="18" charset="0"/>
                <a:cs typeface="Times New Roman" panose="02020603050405020304" pitchFamily="18" charset="0"/>
              </a:rPr>
              <a:t>Degree of scoliosis severity.</a:t>
            </a:r>
          </a:p>
          <a:p>
            <a:r>
              <a:rPr lang="en-US" sz="2200" b="1" dirty="0">
                <a:latin typeface="Times New Roman" panose="02020603050405020304" pitchFamily="18" charset="0"/>
                <a:cs typeface="Times New Roman" panose="02020603050405020304" pitchFamily="18" charset="0"/>
              </a:rPr>
              <a:t>Loss Functions: </a:t>
            </a:r>
            <a:r>
              <a:rPr lang="en-US" sz="2000" dirty="0">
                <a:latin typeface="Times New Roman" panose="02020603050405020304" pitchFamily="18" charset="0"/>
                <a:cs typeface="Times New Roman" panose="02020603050405020304" pitchFamily="18" charset="0"/>
              </a:rPr>
              <a:t>Adversarial Loss– improves realism of segmentation.</a:t>
            </a:r>
          </a:p>
          <a:p>
            <a:pPr marL="0" indent="0">
              <a:buNone/>
            </a:pPr>
            <a:r>
              <a:rPr lang="en-US" sz="2000" b="1" dirty="0">
                <a:latin typeface="Times New Roman" panose="02020603050405020304" pitchFamily="18" charset="0"/>
                <a:cs typeface="Times New Roman" panose="02020603050405020304" pitchFamily="18" charset="0"/>
              </a:rPr>
              <a:t>    Dice Loss</a:t>
            </a:r>
            <a:r>
              <a:rPr lang="en-US" sz="2000" dirty="0">
                <a:latin typeface="Times New Roman" panose="02020603050405020304" pitchFamily="18" charset="0"/>
                <a:cs typeface="Times New Roman" panose="02020603050405020304" pitchFamily="18" charset="0"/>
              </a:rPr>
              <a:t>– improves overlap accuracy between predicted and ground truth masks.</a:t>
            </a:r>
          </a:p>
          <a:p>
            <a:r>
              <a:rPr lang="en-US" sz="2200" b="1" dirty="0">
                <a:latin typeface="Times New Roman" panose="02020603050405020304" pitchFamily="18" charset="0"/>
                <a:cs typeface="Times New Roman" panose="02020603050405020304" pitchFamily="18" charset="0"/>
              </a:rPr>
              <a:t>Evaluation Metrics</a:t>
            </a:r>
            <a:r>
              <a:rPr lang="en-US" sz="2000" dirty="0">
                <a:latin typeface="Times New Roman" panose="02020603050405020304" pitchFamily="18" charset="0"/>
                <a:cs typeface="Times New Roman" panose="02020603050405020304" pitchFamily="18" charset="0"/>
              </a:rPr>
              <a:t>: Dice Similarity Coefficient (DSC),Intersection over Union (</a:t>
            </a:r>
            <a:r>
              <a:rPr lang="en-US" sz="2000" dirty="0" err="1">
                <a:latin typeface="Times New Roman" panose="02020603050405020304" pitchFamily="18" charset="0"/>
                <a:cs typeface="Times New Roman" panose="02020603050405020304" pitchFamily="18" charset="0"/>
              </a:rPr>
              <a:t>IoU</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Mean Absolute Error (MAE) for Cobb angle comparison.</a:t>
            </a:r>
          </a:p>
        </p:txBody>
      </p:sp>
    </p:spTree>
    <p:extLst>
      <p:ext uri="{BB962C8B-B14F-4D97-AF65-F5344CB8AC3E}">
        <p14:creationId xmlns:p14="http://schemas.microsoft.com/office/powerpoint/2010/main" val="128441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A778C-5F51-399D-A52F-D497132031FE}"/>
              </a:ext>
            </a:extLst>
          </p:cNvPr>
          <p:cNvSpPr>
            <a:spLocks noGrp="1"/>
          </p:cNvSpPr>
          <p:nvPr>
            <p:ph type="title"/>
          </p:nvPr>
        </p:nvSpPr>
        <p:spPr/>
        <p:txBody>
          <a:bodyPr>
            <a:normAutofit/>
          </a:bodyPr>
          <a:lstStyle/>
          <a:p>
            <a:pPr algn="ctr"/>
            <a:r>
              <a:rPr lang="en-IN" sz="2400" b="1" dirty="0">
                <a:latin typeface="Times New Roman" panose="02020603050405020304" pitchFamily="18" charset="0"/>
                <a:cs typeface="Times New Roman" panose="02020603050405020304" pitchFamily="18" charset="0"/>
              </a:rPr>
              <a:t>EXPECTED OUTPUT</a:t>
            </a:r>
          </a:p>
        </p:txBody>
      </p:sp>
      <p:pic>
        <p:nvPicPr>
          <p:cNvPr id="5" name="Content Placeholder 4">
            <a:extLst>
              <a:ext uri="{FF2B5EF4-FFF2-40B4-BE49-F238E27FC236}">
                <a16:creationId xmlns:a16="http://schemas.microsoft.com/office/drawing/2014/main" id="{0950B9C6-0587-C9D7-8462-AF74227507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9132" y="1825625"/>
            <a:ext cx="5150040" cy="3856718"/>
          </a:xfrm>
        </p:spPr>
      </p:pic>
      <p:pic>
        <p:nvPicPr>
          <p:cNvPr id="7" name="Picture 6">
            <a:extLst>
              <a:ext uri="{FF2B5EF4-FFF2-40B4-BE49-F238E27FC236}">
                <a16:creationId xmlns:a16="http://schemas.microsoft.com/office/drawing/2014/main" id="{6005F641-DB0C-E560-45E5-0C2F38CF3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8028" y="1825624"/>
            <a:ext cx="5454839" cy="3856718"/>
          </a:xfrm>
          <a:prstGeom prst="rect">
            <a:avLst/>
          </a:prstGeom>
        </p:spPr>
      </p:pic>
    </p:spTree>
    <p:extLst>
      <p:ext uri="{BB962C8B-B14F-4D97-AF65-F5344CB8AC3E}">
        <p14:creationId xmlns:p14="http://schemas.microsoft.com/office/powerpoint/2010/main" val="37056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96856-AADF-8E45-5BFF-BFC9D48AEE4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DA490D0-DFB3-D35B-4C1A-46DF3FA4D7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880054"/>
            <a:ext cx="5181600" cy="3965575"/>
          </a:xfrm>
        </p:spPr>
      </p:pic>
      <p:pic>
        <p:nvPicPr>
          <p:cNvPr id="7" name="Picture 6">
            <a:extLst>
              <a:ext uri="{FF2B5EF4-FFF2-40B4-BE49-F238E27FC236}">
                <a16:creationId xmlns:a16="http://schemas.microsoft.com/office/drawing/2014/main" id="{394510A2-15D9-DBEC-07E1-0AA772829D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2" y="1880054"/>
            <a:ext cx="5181598" cy="3965575"/>
          </a:xfrm>
          <a:prstGeom prst="rect">
            <a:avLst/>
          </a:prstGeom>
        </p:spPr>
      </p:pic>
    </p:spTree>
    <p:extLst>
      <p:ext uri="{BB962C8B-B14F-4D97-AF65-F5344CB8AC3E}">
        <p14:creationId xmlns:p14="http://schemas.microsoft.com/office/powerpoint/2010/main" val="2784254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8217-8EA8-B922-B53D-3ED5E06D6A5E}"/>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CONCLUSION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729FB7-5DD2-D59E-8C77-91B97B34A737}"/>
              </a:ext>
            </a:extLst>
          </p:cNvPr>
          <p:cNvSpPr>
            <a:spLocks noGrp="1"/>
          </p:cNvSpPr>
          <p:nvPr>
            <p:ph idx="1"/>
          </p:nvPr>
        </p:nvSpPr>
        <p:spPr>
          <a:xfrm>
            <a:off x="838200" y="1530657"/>
            <a:ext cx="10515600" cy="435133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project successfully developed an AI-based system using Generative Adversarial Networks (GANs) for automated scoliosis assessment from spine X-rays. The model efficiently performs spinal segmentation and Cobb angle estimation with high accuracy, minimizing manual effort and human error. Its user-friendly interface and robust performance make it suitable for clinical application, enabling faster, more reliable, and objective diagnosis. Overall, this project demonstrates the transformative potential of deep learning in medical imaging and establishes a foundation for future advancements in automated orthopedic diagnostics.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0894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5850" y="1700213"/>
            <a:ext cx="10258425" cy="3170099"/>
          </a:xfrm>
          <a:prstGeom prst="rect">
            <a:avLst/>
          </a:prstGeom>
          <a:noFill/>
        </p:spPr>
        <p:txBody>
          <a:bodyPr wrap="square" rtlCol="0">
            <a:spAutoFit/>
          </a:bodyPr>
          <a:lstStyle/>
          <a:p>
            <a:pPr marL="28575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Ronneberger</a:t>
            </a:r>
            <a:r>
              <a:rPr lang="en-IN" sz="2000" dirty="0">
                <a:latin typeface="Times New Roman" panose="02020603050405020304" pitchFamily="18" charset="0"/>
                <a:cs typeface="Times New Roman" panose="02020603050405020304" pitchFamily="18" charset="0"/>
              </a:rPr>
              <a:t>, O., Fischer, P., &amp; Brox, T. (2015). </a:t>
            </a:r>
            <a:r>
              <a:rPr lang="en-IN" sz="2000" i="1" dirty="0">
                <a:latin typeface="Times New Roman" panose="02020603050405020304" pitchFamily="18" charset="0"/>
                <a:cs typeface="Times New Roman" panose="02020603050405020304" pitchFamily="18" charset="0"/>
              </a:rPr>
              <a:t>U-Net: Convolutional Networks for Biomedical Image Segmentation</a:t>
            </a:r>
            <a:r>
              <a:rPr lang="en-IN" sz="2000" dirty="0">
                <a:latin typeface="Times New Roman" panose="02020603050405020304" pitchFamily="18" charset="0"/>
                <a:cs typeface="Times New Roman" panose="02020603050405020304" pitchFamily="18" charset="0"/>
              </a:rPr>
              <a:t>. In MICCAI.</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Goodfellow, I., et al. (2014). </a:t>
            </a:r>
            <a:r>
              <a:rPr lang="en-US" sz="2000" i="1" dirty="0">
                <a:latin typeface="Times New Roman" panose="02020603050405020304" pitchFamily="18" charset="0"/>
                <a:cs typeface="Times New Roman" panose="02020603050405020304" pitchFamily="18" charset="0"/>
              </a:rPr>
              <a:t>Generative Adversarial Networks</a:t>
            </a:r>
            <a:r>
              <a:rPr lang="en-US" sz="2000" dirty="0">
                <a:latin typeface="Times New Roman" panose="02020603050405020304" pitchFamily="18" charset="0"/>
                <a:cs typeface="Times New Roman" panose="02020603050405020304" pitchFamily="18" charset="0"/>
              </a:rPr>
              <a:t>. Advances in Neural Information Processing Systems (</a:t>
            </a:r>
            <a:r>
              <a:rPr lang="en-US" sz="2000" dirty="0" err="1">
                <a:latin typeface="Times New Roman" panose="02020603050405020304" pitchFamily="18" charset="0"/>
                <a:cs typeface="Times New Roman" panose="02020603050405020304" pitchFamily="18" charset="0"/>
              </a:rPr>
              <a:t>NeurIPS</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Wang, Q., et al. (2018). </a:t>
            </a:r>
            <a:r>
              <a:rPr lang="en-US" sz="2000" i="1" dirty="0">
                <a:latin typeface="Times New Roman" panose="02020603050405020304" pitchFamily="18" charset="0"/>
                <a:cs typeface="Times New Roman" panose="02020603050405020304" pitchFamily="18" charset="0"/>
              </a:rPr>
              <a:t>Automatic detection of vertebral landmarks for Cobb angle measurement using deep learning</a:t>
            </a:r>
            <a:r>
              <a:rPr lang="en-US" sz="2000" dirty="0">
                <a:latin typeface="Times New Roman" panose="02020603050405020304" pitchFamily="18" charset="0"/>
                <a:cs typeface="Times New Roman" panose="02020603050405020304" pitchFamily="18" charset="0"/>
              </a:rPr>
              <a:t>. IEEE Transactions on Medical Imaging.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Drerup, B., &amp; Hierholzer, E. (2014). </a:t>
            </a:r>
            <a:r>
              <a:rPr lang="en-US" sz="2000" i="1" dirty="0">
                <a:latin typeface="Times New Roman" panose="02020603050405020304" pitchFamily="18" charset="0"/>
                <a:cs typeface="Times New Roman" panose="02020603050405020304" pitchFamily="18" charset="0"/>
              </a:rPr>
              <a:t>Cobb angle measurement variability and the need for automated methods in scoliosis diagnosis</a:t>
            </a:r>
            <a:r>
              <a:rPr lang="en-US" sz="2000" dirty="0">
                <a:latin typeface="Times New Roman" panose="02020603050405020304" pitchFamily="18" charset="0"/>
                <a:cs typeface="Times New Roman" panose="02020603050405020304" pitchFamily="18" charset="0"/>
              </a:rPr>
              <a:t>. Spine Journal.</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Tan, Z., et al. (2019). </a:t>
            </a:r>
            <a:r>
              <a:rPr lang="en-US" sz="2000" i="1" dirty="0">
                <a:latin typeface="Times New Roman" panose="02020603050405020304" pitchFamily="18" charset="0"/>
                <a:cs typeface="Times New Roman" panose="02020603050405020304" pitchFamily="18" charset="0"/>
              </a:rPr>
              <a:t>Automatic scoliosis diagnosis and measurement using deep learning techniques</a:t>
            </a:r>
            <a:r>
              <a:rPr lang="en-US" sz="2000" dirty="0">
                <a:latin typeface="Times New Roman" panose="02020603050405020304" pitchFamily="18" charset="0"/>
                <a:cs typeface="Times New Roman" panose="02020603050405020304" pitchFamily="18" charset="0"/>
              </a:rPr>
              <a:t>. Medical Image Analysis.</a:t>
            </a:r>
          </a:p>
        </p:txBody>
      </p:sp>
      <p:sp>
        <p:nvSpPr>
          <p:cNvPr id="3" name="TextBox 2"/>
          <p:cNvSpPr txBox="1"/>
          <p:nvPr/>
        </p:nvSpPr>
        <p:spPr>
          <a:xfrm>
            <a:off x="4886325" y="614363"/>
            <a:ext cx="2255746" cy="830997"/>
          </a:xfrm>
          <a:prstGeom prst="rect">
            <a:avLst/>
          </a:prstGeom>
          <a:noFill/>
        </p:spPr>
        <p:txBody>
          <a:bodyPr wrap="none" rtlCol="0">
            <a:spAutoFit/>
          </a:bodyPr>
          <a:lstStyle/>
          <a:p>
            <a:endParaRPr lang="en-US" sz="2400" b="1" dirty="0">
              <a:latin typeface="Bookman Old Style" panose="02050604050505020204" pitchFamily="18" charset="0"/>
            </a:endParaRPr>
          </a:p>
          <a:p>
            <a:r>
              <a:rPr lang="en-US" sz="2400" b="1" dirty="0">
                <a:latin typeface="Times New Roman" panose="02020603050405020304" pitchFamily="18" charset="0"/>
                <a:cs typeface="Times New Roman" panose="02020603050405020304" pitchFamily="18" charset="0"/>
              </a:rPr>
              <a:t>REFERENCES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062A-D339-FF47-37AA-90BF8796E9C3}"/>
              </a:ext>
            </a:extLst>
          </p:cNvPr>
          <p:cNvSpPr>
            <a:spLocks noGrp="1"/>
          </p:cNvSpPr>
          <p:nvPr>
            <p:ph type="ctrTitle"/>
          </p:nvPr>
        </p:nvSpPr>
        <p:spPr/>
        <p:txBody>
          <a:bodyPr/>
          <a:lstStyle/>
          <a:p>
            <a:r>
              <a:rPr lang="en-US" b="1" dirty="0">
                <a:latin typeface="Algerian" panose="04020705040A02060702" pitchFamily="82" charset="0"/>
              </a:rPr>
              <a:t>THANK YOU!!!</a:t>
            </a:r>
            <a:endParaRPr lang="en-IN" b="1" dirty="0">
              <a:latin typeface="Algerian" panose="04020705040A02060702" pitchFamily="82" charset="0"/>
            </a:endParaRPr>
          </a:p>
        </p:txBody>
      </p:sp>
      <p:sp>
        <p:nvSpPr>
          <p:cNvPr id="3" name="Subtitle 2">
            <a:extLst>
              <a:ext uri="{FF2B5EF4-FFF2-40B4-BE49-F238E27FC236}">
                <a16:creationId xmlns:a16="http://schemas.microsoft.com/office/drawing/2014/main" id="{1FCEB552-866F-7DB1-232F-E4AA34DDA475}"/>
              </a:ext>
            </a:extLst>
          </p:cNvPr>
          <p:cNvSpPr>
            <a:spLocks noGrp="1"/>
          </p:cNvSpPr>
          <p:nvPr>
            <p:ph type="subTitle" idx="1"/>
          </p:nvPr>
        </p:nvSpPr>
        <p:spPr/>
        <p:txBody>
          <a:bodyPr/>
          <a:lstStyle/>
          <a:p>
            <a:r>
              <a:rPr lang="en-US" dirty="0"/>
              <a:t>    </a:t>
            </a:r>
          </a:p>
          <a:p>
            <a:endParaRPr lang="en-IN" dirty="0"/>
          </a:p>
        </p:txBody>
      </p:sp>
    </p:spTree>
    <p:extLst>
      <p:ext uri="{BB962C8B-B14F-4D97-AF65-F5344CB8AC3E}">
        <p14:creationId xmlns:p14="http://schemas.microsoft.com/office/powerpoint/2010/main" val="22137310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1*462"/>
  <p:tag name="TABLE_ENDDRAG_RECT" val="37*70*861*4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1315</Words>
  <Application>Microsoft Office PowerPoint</Application>
  <PresentationFormat>Widescreen</PresentationFormat>
  <Paragraphs>161</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Algerian</vt:lpstr>
      <vt:lpstr>Arial</vt:lpstr>
      <vt:lpstr>Bookman Old Style</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EXISITING SYSTEM</vt:lpstr>
      <vt:lpstr>PROPOSED SYSTEM</vt:lpstr>
      <vt:lpstr>SYSTEM ARCHITECTURE</vt:lpstr>
      <vt:lpstr>USE-CASE DIAGRAM</vt:lpstr>
      <vt:lpstr>CLASS DIAGRAM</vt:lpstr>
      <vt:lpstr>SEQUENCE DIAGRAM</vt:lpstr>
      <vt:lpstr>ACTIVITY DIAGRAM</vt:lpstr>
      <vt:lpstr>  DEPLOYEMENT DIAGRAM</vt:lpstr>
      <vt:lpstr>DATA FLOW DIAGRAM</vt:lpstr>
      <vt:lpstr>ER-DIAGRAM</vt:lpstr>
      <vt:lpstr>PowerPoint Presentation</vt:lpstr>
      <vt:lpstr>HARDWARE REQUIREMENTS</vt:lpstr>
      <vt:lpstr>ALGORITHMS</vt:lpstr>
      <vt:lpstr>PowerPoint Presentation</vt:lpstr>
      <vt:lpstr>EXPECTED OUTPUT</vt:lpstr>
      <vt:lpstr>PowerPoint Presentation</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sindhuja jalapally</dc:creator>
  <cp:lastModifiedBy>Dachepally Krishnasri</cp:lastModifiedBy>
  <cp:revision>64</cp:revision>
  <dcterms:created xsi:type="dcterms:W3CDTF">2024-09-07T18:11:00Z</dcterms:created>
  <dcterms:modified xsi:type="dcterms:W3CDTF">2026-03-05T11:51:30Z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20E86DA79D514B7D8973DA2E50CAAFBF_12</vt:lpwstr>
  </property>
  <property fmtid="{D5CDD505-2E9C-101B-9397-08002B2CF9AE}" pid="3" name="KSOProductBuildVer">
    <vt:lpwstr>1033-12.2.0.22549</vt:lpwstr>
  </property>
</Properties>
</file>